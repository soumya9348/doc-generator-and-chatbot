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jpg"/><Relationship Id="rId10" Type="http://schemas.openxmlformats.org/officeDocument/2006/relationships/image" Target="../media/image23.png"/><Relationship Id="rId11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FFE866"/>
              </a:gs>
              <a:gs pos="100000">
                <a:srgbClr val="FBCE07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gradFill rotWithShape="1">
            <a:gsLst>
              <a:gs pos="0">
                <a:srgbClr val="FBCE07"/>
              </a:gs>
              <a:gs pos="100000">
                <a:srgbClr val="E0B300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0" y="0"/>
            <a:ext cx="3962095" cy="6858000"/>
          </a:xfrm>
          <a:prstGeom prst="rect">
            <a:avLst/>
          </a:prstGeom>
          <a:solidFill>
            <a:srgbClr val="E0B30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48640"/>
            <a:ext cx="822960" cy="822960"/>
          </a:xfrm>
          <a:prstGeom prst="ellipse">
            <a:avLst/>
          </a:prstGeom>
          <a:solidFill>
            <a:srgbClr val="E0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8" y="658368"/>
            <a:ext cx="603504" cy="603504"/>
          </a:xfrm>
          <a:prstGeom prst="ellipse">
            <a:avLst/>
          </a:prstGeom>
          <a:solidFill>
            <a:srgbClr val="DD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8229600" cy="13716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222222"/>
                </a:solidFill>
                <a:latin typeface="Segoe UI Semibold"/>
              </a:defRPr>
            </a:pPr>
            <a:r>
              <a:t>Team Huddle (E-Mobility &amp; Network) –</a:t>
            </a:r>
            <a:br/>
            <a:r>
              <a:t>Focus, Prioritize, Deliver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43600"/>
            <a:ext cx="3657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4A4A"/>
                </a:solidFill>
                <a:latin typeface="Segoe UI"/>
              </a:defRPr>
            </a:pPr>
            <a:r>
              <a:t>15th June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5943600"/>
            <a:ext cx="2286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4A4A4A"/>
                </a:solidFill>
                <a:latin typeface="Segoe UI Semibold"/>
              </a:defRPr>
            </a:pPr>
            <a:r>
              <a:t>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74320"/>
            <a:ext cx="256032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DD1D21"/>
                </a:solidFill>
                <a:latin typeface="Segoe UI Semibold"/>
              </a:defRPr>
            </a:pPr>
            <a:r>
              <a:t>DRAFT DOCUMENT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-457200" y="3474720"/>
            <a:ext cx="12161520" cy="13716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>
            <a:outerShdw blurRad="150000" dist="200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meline_wa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0" y="3474720"/>
            <a:ext cx="4114800" cy="13716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65760" y="3291840"/>
            <a:ext cx="210312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>
            <a:outerShdw blurRad="150000" dist="20000" dir="5400000" algn="ctr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3520440"/>
            <a:ext cx="54864" cy="365760"/>
          </a:xfrm>
          <a:prstGeom prst="rect">
            <a:avLst/>
          </a:prstGeom>
          <a:solidFill>
            <a:srgbClr val="396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73152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9699A"/>
                </a:solidFill>
                <a:latin typeface="Segoe UI Semibold"/>
              </a:defRPr>
            </a:pPr>
            <a:r>
              <a:t>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3429000"/>
            <a:ext cx="9144" cy="5486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429000"/>
            <a:ext cx="1097280" cy="5486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2222"/>
                </a:solidFill>
                <a:latin typeface="Segoe UI Semibold"/>
              </a:defRPr>
            </a:pPr>
            <a:r>
              <a:t>Execution</a:t>
            </a:r>
            <a:br/>
            <a:r>
              <a:t>Themes</a:t>
            </a:r>
          </a:p>
        </p:txBody>
      </p:sp>
      <p:sp>
        <p:nvSpPr>
          <p:cNvPr id="9" name="Oval 8"/>
          <p:cNvSpPr/>
          <p:nvPr/>
        </p:nvSpPr>
        <p:spPr>
          <a:xfrm>
            <a:off x="11247120" y="393192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247120" y="4041648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0" y="4151376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47120" y="4261104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56848" y="393192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356848" y="4041648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356848" y="4151376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356848" y="4261104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466576" y="393192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466576" y="4041648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466576" y="4151376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66576" y="4261104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4142232"/>
            <a:ext cx="1755648" cy="36576"/>
          </a:xfrm>
          <a:prstGeom prst="rect">
            <a:avLst/>
          </a:prstGeom>
          <a:gradFill rotWithShape="1">
            <a:gsLst>
              <a:gs pos="0">
                <a:srgbClr val="39699A"/>
              </a:gs>
              <a:gs pos="100000">
                <a:srgbClr val="4EA0A6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3995928"/>
            <a:ext cx="36576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D9D9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4142232"/>
            <a:ext cx="1755648" cy="36576"/>
          </a:xfrm>
          <a:prstGeom prst="rect">
            <a:avLst/>
          </a:prstGeom>
          <a:gradFill rotWithShape="1">
            <a:gsLst>
              <a:gs pos="0">
                <a:srgbClr val="4EA0A6"/>
              </a:gs>
              <a:gs pos="100000">
                <a:srgbClr val="5B9858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66360" y="3995928"/>
            <a:ext cx="36576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D9D9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4142232"/>
            <a:ext cx="1755648" cy="36576"/>
          </a:xfrm>
          <a:prstGeom prst="rect">
            <a:avLst/>
          </a:prstGeom>
          <a:gradFill rotWithShape="1">
            <a:gsLst>
              <a:gs pos="0">
                <a:srgbClr val="5B9858"/>
              </a:gs>
              <a:gs pos="100000">
                <a:srgbClr val="D6A752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3995928"/>
            <a:ext cx="36576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D9D9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0" y="4142232"/>
            <a:ext cx="1755648" cy="36576"/>
          </a:xfrm>
          <a:prstGeom prst="rect">
            <a:avLst/>
          </a:prstGeom>
          <a:gradFill rotWithShape="1">
            <a:gsLst>
              <a:gs pos="0">
                <a:srgbClr val="D6A752"/>
              </a:gs>
              <a:gs pos="100000">
                <a:srgbClr val="478149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3995928"/>
            <a:ext cx="36576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9D9D9"/>
                </a:solidFill>
                <a:latin typeface="Segoe UI"/>
              </a:defRPr>
            </a:pPr>
            <a:r>
              <a:t>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692640" y="4142232"/>
            <a:ext cx="1371600" cy="36576"/>
          </a:xfrm>
          <a:prstGeom prst="rect">
            <a:avLst/>
          </a:prstGeom>
          <a:gradFill rotWithShape="1">
            <a:gsLst>
              <a:gs pos="0">
                <a:srgbClr val="478149"/>
              </a:gs>
              <a:gs pos="100000">
                <a:srgbClr val="D9D9D9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81360" y="3995928"/>
            <a:ext cx="36576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9D9D9"/>
                </a:solidFill>
                <a:latin typeface="Segoe UI"/>
              </a:defRPr>
            </a:pPr>
            <a:r>
              <a:t>▶</a:t>
            </a:r>
          </a:p>
        </p:txBody>
      </p:sp>
      <p:sp>
        <p:nvSpPr>
          <p:cNvPr id="31" name="Oval 30"/>
          <p:cNvSpPr/>
          <p:nvPr/>
        </p:nvSpPr>
        <p:spPr>
          <a:xfrm>
            <a:off x="2633472" y="4050792"/>
            <a:ext cx="219456" cy="219456"/>
          </a:xfrm>
          <a:prstGeom prst="ellipse">
            <a:avLst/>
          </a:prstGeom>
          <a:noFill/>
          <a:ln w="19050">
            <a:solidFill>
              <a:srgbClr val="396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688336" y="4105656"/>
            <a:ext cx="109728" cy="109728"/>
          </a:xfrm>
          <a:prstGeom prst="ellipse">
            <a:avLst/>
          </a:prstGeom>
          <a:solidFill>
            <a:srgbClr val="396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68880" y="4297680"/>
            <a:ext cx="54864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9699A"/>
                </a:solidFill>
                <a:latin typeface="Segoe UI Semibold"/>
              </a:defRPr>
            </a:pPr>
            <a:r>
              <a:t>Jan</a:t>
            </a:r>
          </a:p>
        </p:txBody>
      </p:sp>
      <p:sp>
        <p:nvSpPr>
          <p:cNvPr id="34" name="Oval 33"/>
          <p:cNvSpPr/>
          <p:nvPr/>
        </p:nvSpPr>
        <p:spPr>
          <a:xfrm>
            <a:off x="2729484" y="3931920"/>
            <a:ext cx="27432" cy="27432"/>
          </a:xfrm>
          <a:prstGeom prst="ellipse">
            <a:avLst/>
          </a:prstGeom>
          <a:solidFill>
            <a:srgbClr val="396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29484" y="3749040"/>
            <a:ext cx="27432" cy="27432"/>
          </a:xfrm>
          <a:prstGeom prst="ellipse">
            <a:avLst/>
          </a:prstGeom>
          <a:solidFill>
            <a:srgbClr val="396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29484" y="3566160"/>
            <a:ext cx="27432" cy="27432"/>
          </a:xfrm>
          <a:prstGeom prst="ellipse">
            <a:avLst/>
          </a:prstGeom>
          <a:solidFill>
            <a:srgbClr val="396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29484" y="3383280"/>
            <a:ext cx="27432" cy="27432"/>
          </a:xfrm>
          <a:prstGeom prst="ellipse">
            <a:avLst/>
          </a:prstGeom>
          <a:solidFill>
            <a:srgbClr val="396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729484" y="3200400"/>
            <a:ext cx="27432" cy="27432"/>
          </a:xfrm>
          <a:prstGeom prst="ellipse">
            <a:avLst/>
          </a:prstGeom>
          <a:solidFill>
            <a:srgbClr val="396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729484" y="3017520"/>
            <a:ext cx="27432" cy="27432"/>
          </a:xfrm>
          <a:prstGeom prst="ellipse">
            <a:avLst/>
          </a:prstGeom>
          <a:solidFill>
            <a:srgbClr val="396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423160" y="2103120"/>
            <a:ext cx="640080" cy="640080"/>
          </a:xfrm>
          <a:prstGeom prst="ellipse">
            <a:avLst/>
          </a:prstGeom>
          <a:solidFill>
            <a:srgbClr val="E1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time_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0320" y="2240280"/>
            <a:ext cx="365760" cy="365760"/>
          </a:xfrm>
          <a:prstGeom prst="rect">
            <a:avLst/>
          </a:prstGeom>
        </p:spPr>
      </p:pic>
      <p:sp>
        <p:nvSpPr>
          <p:cNvPr id="42" name="Arc 41"/>
          <p:cNvSpPr/>
          <p:nvPr/>
        </p:nvSpPr>
        <p:spPr>
          <a:xfrm>
            <a:off x="2331720" y="2011680"/>
            <a:ext cx="822960" cy="822960"/>
          </a:xfrm>
          <a:prstGeom prst="arc">
            <a:avLst>
              <a:gd name="adj1" fmla="val 9000000"/>
              <a:gd name="adj2" fmla="val 27000000"/>
            </a:avLst>
          </a:prstGeom>
          <a:ln w="19050">
            <a:solidFill>
              <a:srgbClr val="39699A"/>
            </a:solidFill>
          </a:ln>
          <a:effectLst/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711196" y="2802636"/>
            <a:ext cx="64008" cy="64008"/>
          </a:xfrm>
          <a:prstGeom prst="ellipse">
            <a:avLst/>
          </a:prstGeom>
          <a:solidFill>
            <a:srgbClr val="3969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0" y="2103120"/>
            <a:ext cx="109728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222222"/>
                </a:solidFill>
                <a:latin typeface="Segoe UI Semibold"/>
              </a:defRPr>
            </a:pPr>
            <a:r>
              <a:t>Clarity</a:t>
            </a:r>
            <a:br/>
            <a:r>
              <a:t>First</a:t>
            </a:r>
          </a:p>
        </p:txBody>
      </p:sp>
      <p:sp>
        <p:nvSpPr>
          <p:cNvPr id="45" name="Oval 44"/>
          <p:cNvSpPr/>
          <p:nvPr/>
        </p:nvSpPr>
        <p:spPr>
          <a:xfrm>
            <a:off x="4370832" y="4050792"/>
            <a:ext cx="219456" cy="219456"/>
          </a:xfrm>
          <a:prstGeom prst="ellipse">
            <a:avLst/>
          </a:prstGeom>
          <a:noFill/>
          <a:ln w="19050">
            <a:solidFill>
              <a:srgbClr val="4EA0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4425696" y="4105656"/>
            <a:ext cx="109728" cy="109728"/>
          </a:xfrm>
          <a:prstGeom prst="ellipse">
            <a:avLst/>
          </a:prstGeom>
          <a:solidFill>
            <a:srgbClr val="4E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206240" y="4297680"/>
            <a:ext cx="54864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EA0A6"/>
                </a:solidFill>
                <a:latin typeface="Segoe UI Semibold"/>
              </a:defRPr>
            </a:pPr>
            <a:r>
              <a:t>Feb</a:t>
            </a:r>
          </a:p>
        </p:txBody>
      </p:sp>
      <p:sp>
        <p:nvSpPr>
          <p:cNvPr id="48" name="Oval 47"/>
          <p:cNvSpPr/>
          <p:nvPr/>
        </p:nvSpPr>
        <p:spPr>
          <a:xfrm>
            <a:off x="4466844" y="3931920"/>
            <a:ext cx="27432" cy="27432"/>
          </a:xfrm>
          <a:prstGeom prst="ellipse">
            <a:avLst/>
          </a:prstGeom>
          <a:solidFill>
            <a:srgbClr val="4E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466844" y="3749040"/>
            <a:ext cx="27432" cy="27432"/>
          </a:xfrm>
          <a:prstGeom prst="ellipse">
            <a:avLst/>
          </a:prstGeom>
          <a:solidFill>
            <a:srgbClr val="4E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466844" y="3566160"/>
            <a:ext cx="27432" cy="27432"/>
          </a:xfrm>
          <a:prstGeom prst="ellipse">
            <a:avLst/>
          </a:prstGeom>
          <a:solidFill>
            <a:srgbClr val="4E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466844" y="3383280"/>
            <a:ext cx="27432" cy="27432"/>
          </a:xfrm>
          <a:prstGeom prst="ellipse">
            <a:avLst/>
          </a:prstGeom>
          <a:solidFill>
            <a:srgbClr val="4E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4466844" y="3200400"/>
            <a:ext cx="27432" cy="27432"/>
          </a:xfrm>
          <a:prstGeom prst="ellipse">
            <a:avLst/>
          </a:prstGeom>
          <a:solidFill>
            <a:srgbClr val="4E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4466844" y="3017520"/>
            <a:ext cx="27432" cy="27432"/>
          </a:xfrm>
          <a:prstGeom prst="ellipse">
            <a:avLst/>
          </a:prstGeom>
          <a:solidFill>
            <a:srgbClr val="4E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160520" y="2103120"/>
            <a:ext cx="640080" cy="640080"/>
          </a:xfrm>
          <a:prstGeom prst="ellipse">
            <a:avLst/>
          </a:prstGeom>
          <a:solidFill>
            <a:srgbClr val="E4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time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240280"/>
            <a:ext cx="365760" cy="365760"/>
          </a:xfrm>
          <a:prstGeom prst="rect">
            <a:avLst/>
          </a:prstGeom>
        </p:spPr>
      </p:pic>
      <p:sp>
        <p:nvSpPr>
          <p:cNvPr id="56" name="Arc 55"/>
          <p:cNvSpPr/>
          <p:nvPr/>
        </p:nvSpPr>
        <p:spPr>
          <a:xfrm>
            <a:off x="4069080" y="2011680"/>
            <a:ext cx="822960" cy="822960"/>
          </a:xfrm>
          <a:prstGeom prst="arc">
            <a:avLst>
              <a:gd name="adj1" fmla="val 9000000"/>
              <a:gd name="adj2" fmla="val 27000000"/>
            </a:avLst>
          </a:prstGeom>
          <a:ln w="19050">
            <a:solidFill>
              <a:srgbClr val="4EA0A6"/>
            </a:solidFill>
          </a:ln>
          <a:effectLst/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448556" y="2802636"/>
            <a:ext cx="64008" cy="64008"/>
          </a:xfrm>
          <a:prstGeom prst="ellipse">
            <a:avLst/>
          </a:prstGeom>
          <a:solidFill>
            <a:srgbClr val="4EA0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937760" y="2103120"/>
            <a:ext cx="109728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222222"/>
                </a:solidFill>
                <a:latin typeface="Segoe UI Semibold"/>
              </a:defRPr>
            </a:pPr>
            <a:r>
              <a:t>Execute</a:t>
            </a:r>
            <a:br/>
            <a:r>
              <a:t>With</a:t>
            </a:r>
            <a:br/>
            <a:r>
              <a:t>Excellence</a:t>
            </a:r>
          </a:p>
        </p:txBody>
      </p:sp>
      <p:sp>
        <p:nvSpPr>
          <p:cNvPr id="59" name="Oval 58"/>
          <p:cNvSpPr/>
          <p:nvPr/>
        </p:nvSpPr>
        <p:spPr>
          <a:xfrm>
            <a:off x="6108192" y="4050792"/>
            <a:ext cx="219456" cy="219456"/>
          </a:xfrm>
          <a:prstGeom prst="ellipse">
            <a:avLst/>
          </a:prstGeom>
          <a:noFill/>
          <a:ln w="19050">
            <a:solidFill>
              <a:srgbClr val="5B98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163056" y="4105656"/>
            <a:ext cx="109728" cy="109728"/>
          </a:xfrm>
          <a:prstGeom prst="ellipse">
            <a:avLst/>
          </a:prstGeom>
          <a:solidFill>
            <a:srgbClr val="5B9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0" y="4297680"/>
            <a:ext cx="54864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5B9858"/>
                </a:solidFill>
                <a:latin typeface="Segoe UI Semibold"/>
              </a:defRPr>
            </a:pPr>
            <a:r>
              <a:t>Mar</a:t>
            </a:r>
          </a:p>
        </p:txBody>
      </p:sp>
      <p:sp>
        <p:nvSpPr>
          <p:cNvPr id="62" name="Oval 61"/>
          <p:cNvSpPr/>
          <p:nvPr/>
        </p:nvSpPr>
        <p:spPr>
          <a:xfrm>
            <a:off x="6204204" y="3931920"/>
            <a:ext cx="27432" cy="27432"/>
          </a:xfrm>
          <a:prstGeom prst="ellipse">
            <a:avLst/>
          </a:prstGeom>
          <a:solidFill>
            <a:srgbClr val="5B9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04204" y="3749040"/>
            <a:ext cx="27432" cy="27432"/>
          </a:xfrm>
          <a:prstGeom prst="ellipse">
            <a:avLst/>
          </a:prstGeom>
          <a:solidFill>
            <a:srgbClr val="5B9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204204" y="3566160"/>
            <a:ext cx="27432" cy="27432"/>
          </a:xfrm>
          <a:prstGeom prst="ellipse">
            <a:avLst/>
          </a:prstGeom>
          <a:solidFill>
            <a:srgbClr val="5B9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204204" y="3383280"/>
            <a:ext cx="27432" cy="27432"/>
          </a:xfrm>
          <a:prstGeom prst="ellipse">
            <a:avLst/>
          </a:prstGeom>
          <a:solidFill>
            <a:srgbClr val="5B9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204204" y="3200400"/>
            <a:ext cx="27432" cy="27432"/>
          </a:xfrm>
          <a:prstGeom prst="ellipse">
            <a:avLst/>
          </a:prstGeom>
          <a:solidFill>
            <a:srgbClr val="5B9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204204" y="3017520"/>
            <a:ext cx="27432" cy="27432"/>
          </a:xfrm>
          <a:prstGeom prst="ellipse">
            <a:avLst/>
          </a:prstGeom>
          <a:solidFill>
            <a:srgbClr val="5B9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5897880" y="2103120"/>
            <a:ext cx="640080" cy="640080"/>
          </a:xfrm>
          <a:prstGeom prst="ellipse">
            <a:avLst/>
          </a:prstGeom>
          <a:solidFill>
            <a:srgbClr val="E6E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time_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2240280"/>
            <a:ext cx="365760" cy="365760"/>
          </a:xfrm>
          <a:prstGeom prst="rect">
            <a:avLst/>
          </a:prstGeom>
        </p:spPr>
      </p:pic>
      <p:sp>
        <p:nvSpPr>
          <p:cNvPr id="70" name="Arc 69"/>
          <p:cNvSpPr/>
          <p:nvPr/>
        </p:nvSpPr>
        <p:spPr>
          <a:xfrm>
            <a:off x="5806440" y="2011680"/>
            <a:ext cx="822960" cy="822960"/>
          </a:xfrm>
          <a:prstGeom prst="arc">
            <a:avLst>
              <a:gd name="adj1" fmla="val 9000000"/>
              <a:gd name="adj2" fmla="val 27000000"/>
            </a:avLst>
          </a:prstGeom>
          <a:ln w="19050">
            <a:solidFill>
              <a:srgbClr val="5B9858"/>
            </a:solidFill>
          </a:ln>
          <a:effectLst/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6185916" y="2802636"/>
            <a:ext cx="64008" cy="64008"/>
          </a:xfrm>
          <a:prstGeom prst="ellipse">
            <a:avLst/>
          </a:prstGeom>
          <a:solidFill>
            <a:srgbClr val="5B9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75120" y="2103120"/>
            <a:ext cx="109728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222222"/>
                </a:solidFill>
                <a:latin typeface="Segoe UI Semibold"/>
              </a:defRPr>
            </a:pPr>
            <a:r>
              <a:t>Attest,</a:t>
            </a:r>
            <a:br/>
            <a:r>
              <a:t>Remediate,</a:t>
            </a:r>
            <a:br/>
            <a:r>
              <a:t>Protect</a:t>
            </a:r>
          </a:p>
        </p:txBody>
      </p:sp>
      <p:sp>
        <p:nvSpPr>
          <p:cNvPr id="73" name="Oval 72"/>
          <p:cNvSpPr/>
          <p:nvPr/>
        </p:nvSpPr>
        <p:spPr>
          <a:xfrm>
            <a:off x="7845552" y="4050792"/>
            <a:ext cx="219456" cy="219456"/>
          </a:xfrm>
          <a:prstGeom prst="ellipse">
            <a:avLst/>
          </a:prstGeom>
          <a:noFill/>
          <a:ln w="19050">
            <a:solidFill>
              <a:srgbClr val="D6A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7900416" y="4105656"/>
            <a:ext cx="109728" cy="109728"/>
          </a:xfrm>
          <a:prstGeom prst="ellipse">
            <a:avLst/>
          </a:prstGeom>
          <a:solidFill>
            <a:srgbClr val="D6A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680960" y="4297680"/>
            <a:ext cx="54864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6A752"/>
                </a:solidFill>
                <a:latin typeface="Segoe UI Semibold"/>
              </a:defRPr>
            </a:pPr>
            <a:r>
              <a:t>Apr</a:t>
            </a:r>
          </a:p>
        </p:txBody>
      </p:sp>
      <p:sp>
        <p:nvSpPr>
          <p:cNvPr id="76" name="Oval 75"/>
          <p:cNvSpPr/>
          <p:nvPr/>
        </p:nvSpPr>
        <p:spPr>
          <a:xfrm>
            <a:off x="7941564" y="3931920"/>
            <a:ext cx="27432" cy="27432"/>
          </a:xfrm>
          <a:prstGeom prst="ellipse">
            <a:avLst/>
          </a:prstGeom>
          <a:solidFill>
            <a:srgbClr val="D6A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7941564" y="3749040"/>
            <a:ext cx="27432" cy="27432"/>
          </a:xfrm>
          <a:prstGeom prst="ellipse">
            <a:avLst/>
          </a:prstGeom>
          <a:solidFill>
            <a:srgbClr val="D6A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7941564" y="3566160"/>
            <a:ext cx="27432" cy="27432"/>
          </a:xfrm>
          <a:prstGeom prst="ellipse">
            <a:avLst/>
          </a:prstGeom>
          <a:solidFill>
            <a:srgbClr val="D6A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7941564" y="3383280"/>
            <a:ext cx="27432" cy="27432"/>
          </a:xfrm>
          <a:prstGeom prst="ellipse">
            <a:avLst/>
          </a:prstGeom>
          <a:solidFill>
            <a:srgbClr val="D6A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941564" y="3200400"/>
            <a:ext cx="27432" cy="27432"/>
          </a:xfrm>
          <a:prstGeom prst="ellipse">
            <a:avLst/>
          </a:prstGeom>
          <a:solidFill>
            <a:srgbClr val="D6A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7941564" y="3017520"/>
            <a:ext cx="27432" cy="27432"/>
          </a:xfrm>
          <a:prstGeom prst="ellipse">
            <a:avLst/>
          </a:prstGeom>
          <a:solidFill>
            <a:srgbClr val="D6A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7635240" y="2103120"/>
            <a:ext cx="640080" cy="640080"/>
          </a:xfrm>
          <a:prstGeom prst="ellipse">
            <a:avLst/>
          </a:prstGeom>
          <a:solidFill>
            <a:srgbClr val="F8F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3" name="Picture 82" descr="time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0" y="2240280"/>
            <a:ext cx="365760" cy="365760"/>
          </a:xfrm>
          <a:prstGeom prst="rect">
            <a:avLst/>
          </a:prstGeom>
        </p:spPr>
      </p:pic>
      <p:sp>
        <p:nvSpPr>
          <p:cNvPr id="84" name="Arc 83"/>
          <p:cNvSpPr/>
          <p:nvPr/>
        </p:nvSpPr>
        <p:spPr>
          <a:xfrm>
            <a:off x="7543800" y="2011680"/>
            <a:ext cx="822960" cy="822960"/>
          </a:xfrm>
          <a:prstGeom prst="arc">
            <a:avLst>
              <a:gd name="adj1" fmla="val 9000000"/>
              <a:gd name="adj2" fmla="val 27000000"/>
            </a:avLst>
          </a:prstGeom>
          <a:ln w="19050">
            <a:solidFill>
              <a:srgbClr val="D6A752"/>
            </a:solidFill>
          </a:ln>
          <a:effectLst/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7923276" y="2802636"/>
            <a:ext cx="64008" cy="64008"/>
          </a:xfrm>
          <a:prstGeom prst="ellipse">
            <a:avLst/>
          </a:prstGeom>
          <a:solidFill>
            <a:srgbClr val="D6A7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412480" y="2103120"/>
            <a:ext cx="109728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222222"/>
                </a:solidFill>
                <a:latin typeface="Segoe UI Semibold"/>
              </a:defRPr>
            </a:pPr>
            <a:r>
              <a:t>Reflect,</a:t>
            </a:r>
            <a:br/>
            <a:r>
              <a:t>Align,</a:t>
            </a:r>
            <a:br/>
            <a:r>
              <a:t>Accelerate,</a:t>
            </a:r>
            <a:br/>
            <a:r>
              <a:t>Achieve</a:t>
            </a:r>
          </a:p>
        </p:txBody>
      </p:sp>
      <p:sp>
        <p:nvSpPr>
          <p:cNvPr id="87" name="Oval 86"/>
          <p:cNvSpPr/>
          <p:nvPr/>
        </p:nvSpPr>
        <p:spPr>
          <a:xfrm>
            <a:off x="9582912" y="4050792"/>
            <a:ext cx="219456" cy="219456"/>
          </a:xfrm>
          <a:prstGeom prst="ellipse">
            <a:avLst/>
          </a:prstGeom>
          <a:noFill/>
          <a:ln w="19050">
            <a:solidFill>
              <a:srgbClr val="478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9637776" y="4105656"/>
            <a:ext cx="109728" cy="109728"/>
          </a:xfrm>
          <a:prstGeom prst="ellipse">
            <a:avLst/>
          </a:prstGeom>
          <a:solidFill>
            <a:srgbClr val="478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418320" y="4297680"/>
            <a:ext cx="54864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78149"/>
                </a:solidFill>
                <a:latin typeface="Segoe UI Semibold"/>
              </a:defRPr>
            </a:pPr>
            <a:r>
              <a:t>May</a:t>
            </a:r>
          </a:p>
        </p:txBody>
      </p:sp>
      <p:sp>
        <p:nvSpPr>
          <p:cNvPr id="90" name="Oval 89"/>
          <p:cNvSpPr/>
          <p:nvPr/>
        </p:nvSpPr>
        <p:spPr>
          <a:xfrm>
            <a:off x="9678924" y="3931920"/>
            <a:ext cx="27432" cy="27432"/>
          </a:xfrm>
          <a:prstGeom prst="ellipse">
            <a:avLst/>
          </a:prstGeom>
          <a:solidFill>
            <a:srgbClr val="478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9678924" y="3749040"/>
            <a:ext cx="27432" cy="27432"/>
          </a:xfrm>
          <a:prstGeom prst="ellipse">
            <a:avLst/>
          </a:prstGeom>
          <a:solidFill>
            <a:srgbClr val="478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9678924" y="3566160"/>
            <a:ext cx="27432" cy="27432"/>
          </a:xfrm>
          <a:prstGeom prst="ellipse">
            <a:avLst/>
          </a:prstGeom>
          <a:solidFill>
            <a:srgbClr val="478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9678924" y="3383280"/>
            <a:ext cx="27432" cy="27432"/>
          </a:xfrm>
          <a:prstGeom prst="ellipse">
            <a:avLst/>
          </a:prstGeom>
          <a:solidFill>
            <a:srgbClr val="478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9678924" y="3200400"/>
            <a:ext cx="27432" cy="27432"/>
          </a:xfrm>
          <a:prstGeom prst="ellipse">
            <a:avLst/>
          </a:prstGeom>
          <a:solidFill>
            <a:srgbClr val="478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678924" y="3017520"/>
            <a:ext cx="27432" cy="27432"/>
          </a:xfrm>
          <a:prstGeom prst="ellipse">
            <a:avLst/>
          </a:prstGeom>
          <a:solidFill>
            <a:srgbClr val="478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372600" y="2103120"/>
            <a:ext cx="640080" cy="640080"/>
          </a:xfrm>
          <a:prstGeom prst="ellipse">
            <a:avLst/>
          </a:prstGeom>
          <a:solidFill>
            <a:srgbClr val="E3E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7" name="Picture 96" descr="time_rocke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0" y="2240280"/>
            <a:ext cx="365760" cy="365760"/>
          </a:xfrm>
          <a:prstGeom prst="rect">
            <a:avLst/>
          </a:prstGeom>
        </p:spPr>
      </p:pic>
      <p:sp>
        <p:nvSpPr>
          <p:cNvPr id="98" name="Arc 97"/>
          <p:cNvSpPr/>
          <p:nvPr/>
        </p:nvSpPr>
        <p:spPr>
          <a:xfrm>
            <a:off x="9281160" y="2011680"/>
            <a:ext cx="822960" cy="822960"/>
          </a:xfrm>
          <a:prstGeom prst="arc">
            <a:avLst>
              <a:gd name="adj1" fmla="val 9000000"/>
              <a:gd name="adj2" fmla="val 27000000"/>
            </a:avLst>
          </a:prstGeom>
          <a:ln w="19050">
            <a:solidFill>
              <a:srgbClr val="478149"/>
            </a:solidFill>
          </a:ln>
          <a:effectLst/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9660636" y="2802636"/>
            <a:ext cx="64008" cy="64008"/>
          </a:xfrm>
          <a:prstGeom prst="ellipse">
            <a:avLst/>
          </a:prstGeom>
          <a:solidFill>
            <a:srgbClr val="478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149840" y="2103120"/>
            <a:ext cx="1097280" cy="7315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defRPr sz="1000" b="1">
                <a:solidFill>
                  <a:srgbClr val="222222"/>
                </a:solidFill>
                <a:latin typeface="Segoe UI Semibold"/>
              </a:defRPr>
            </a:pPr>
            <a:r>
              <a:t>Standardize</a:t>
            </a:r>
            <a:br/>
            <a:r>
              <a:t>&amp; Scale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gradFill rotWithShape="1">
            <a:gsLst>
              <a:gs pos="0">
                <a:srgbClr val="FBCE07"/>
              </a:gs>
              <a:gs pos="100000">
                <a:srgbClr val="E0B300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1143000"/>
          </a:xfrm>
          <a:prstGeom prst="rect">
            <a:avLst/>
          </a:prstGeom>
          <a:solidFill>
            <a:srgbClr val="FFE86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28600"/>
            <a:ext cx="502920" cy="502920"/>
          </a:xfrm>
          <a:prstGeom prst="ellipse">
            <a:avLst/>
          </a:prstGeom>
          <a:solidFill>
            <a:srgbClr val="E0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301752"/>
            <a:ext cx="356616" cy="356616"/>
          </a:xfrm>
          <a:prstGeom prst="ellipse">
            <a:avLst/>
          </a:prstGeom>
          <a:solidFill>
            <a:srgbClr val="DD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"/>
            <a:ext cx="9144000" cy="6858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Segoe UI Semibold"/>
              </a:defRPr>
            </a:pPr>
            <a:r>
              <a:t>Leadership Team Updates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C8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777240"/>
            <a:ext cx="22860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88888"/>
                </a:solidFill>
                <a:latin typeface="Segoe UI Semibold"/>
              </a:defRPr>
            </a:pPr>
            <a:r>
              <a:t>INTERNAL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417320"/>
            <a:ext cx="5303520" cy="1965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417320"/>
            <a:ext cx="914400" cy="36576"/>
          </a:xfrm>
          <a:prstGeom prst="rect">
            <a:avLst/>
          </a:prstGeom>
          <a:solidFill>
            <a:srgbClr val="4A6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691640"/>
            <a:ext cx="594360" cy="59436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4A6C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hq_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828800"/>
            <a:ext cx="320040" cy="3200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1783080"/>
            <a:ext cx="36576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6C98"/>
                </a:solidFill>
                <a:latin typeface="Segoe UI Semibold"/>
              </a:defRPr>
            </a:pPr>
            <a:r>
              <a:t>DRM TEAM OUTING &amp; AHM</a:t>
            </a:r>
          </a:p>
        </p:txBody>
      </p:sp>
      <p:pic>
        <p:nvPicPr>
          <p:cNvPr id="14" name="Picture 13" descr="hq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304288"/>
            <a:ext cx="164592" cy="1645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783080" y="2286000"/>
            <a:ext cx="310896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4A4A"/>
                </a:solidFill>
                <a:latin typeface="Segoe UI"/>
              </a:defRPr>
            </a:pPr>
            <a:r>
              <a:t>Planned for 26th June</a:t>
            </a:r>
          </a:p>
        </p:txBody>
      </p:sp>
      <p:pic>
        <p:nvPicPr>
          <p:cNvPr id="16" name="Picture 15" descr="hq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624328"/>
            <a:ext cx="164592" cy="1645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783080" y="2606040"/>
            <a:ext cx="310896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4A4A"/>
                </a:solidFill>
                <a:latin typeface="Segoe UI"/>
              </a:defRPr>
            </a:pPr>
            <a:r>
              <a:t>Inform stakeholders upfront</a:t>
            </a:r>
            <a:br/>
            <a:r>
              <a:t>to ensure coverage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1417320"/>
            <a:ext cx="5303520" cy="196596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1417320"/>
            <a:ext cx="914400" cy="36576"/>
          </a:xfrm>
          <a:prstGeom prst="rect">
            <a:avLst/>
          </a:prstGeom>
          <a:solidFill>
            <a:srgbClr val="AF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1691640"/>
            <a:ext cx="594360" cy="594360"/>
          </a:xfrm>
          <a:prstGeom prst="ellipse">
            <a:avLst/>
          </a:prstGeom>
          <a:solidFill>
            <a:srgbClr val="F9EDEC"/>
          </a:solidFill>
          <a:ln w="12700">
            <a:solidFill>
              <a:srgbClr val="AF6E6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hq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828800"/>
            <a:ext cx="320040" cy="32004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178040" y="1783080"/>
            <a:ext cx="36576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F6E6A"/>
                </a:solidFill>
                <a:latin typeface="Segoe UI Semibold"/>
              </a:defRPr>
            </a:pPr>
            <a:r>
              <a:t>SECURITY &amp; COMPLIANCE</a:t>
            </a:r>
          </a:p>
        </p:txBody>
      </p:sp>
      <p:pic>
        <p:nvPicPr>
          <p:cNvPr id="23" name="Picture 22" descr="hq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304288"/>
            <a:ext cx="164592" cy="16459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406640" y="2286000"/>
            <a:ext cx="310896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4A4A"/>
                </a:solidFill>
                <a:latin typeface="Segoe UI"/>
              </a:defRPr>
            </a:pPr>
            <a:r>
              <a:t>Security focus remains a top</a:t>
            </a:r>
            <a:br/>
            <a:r>
              <a:t>priority across all clusters.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78040" y="2743200"/>
            <a:ext cx="3931920" cy="502920"/>
          </a:xfrm>
          <a:prstGeom prst="roundRect">
            <a:avLst>
              <a:gd name="adj" fmla="val 4000"/>
            </a:avLst>
          </a:prstGeom>
          <a:solidFill>
            <a:srgbClr val="F9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hq_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2770632"/>
            <a:ext cx="438912" cy="4389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772400" y="2788920"/>
            <a:ext cx="3200400" cy="4114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AF6E6A"/>
                </a:solidFill>
                <a:latin typeface="Segoe UI Semibold"/>
              </a:defRPr>
            </a:pPr>
            <a:r>
              <a:t>100% Repo Attestation Achieved</a:t>
            </a:r>
            <a:br/>
            <a:r>
              <a:t>(7 Apps, 17 Repos)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611880"/>
            <a:ext cx="3429000" cy="2331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" y="3611880"/>
            <a:ext cx="731520" cy="36576"/>
          </a:xfrm>
          <a:prstGeom prst="rect">
            <a:avLst/>
          </a:prstGeom>
          <a:solidFill>
            <a:srgbClr val="3B8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794760"/>
            <a:ext cx="594360" cy="594360"/>
          </a:xfrm>
          <a:prstGeom prst="ellipse">
            <a:avLst/>
          </a:prstGeom>
          <a:solidFill>
            <a:srgbClr val="E6F2EF"/>
          </a:solidFill>
          <a:ln w="12700">
            <a:solidFill>
              <a:srgbClr val="3B827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hq_cl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3931920"/>
            <a:ext cx="320040" cy="32004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554480" y="3867912"/>
            <a:ext cx="2011680" cy="4114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76"/>
                </a:solidFill>
                <a:latin typeface="Segoe UI Semibold"/>
              </a:defRPr>
            </a:pPr>
            <a:r>
              <a:t>OPERATIONAL</a:t>
            </a:r>
            <a:br/>
            <a:r>
              <a:t>COMPLIANCE</a:t>
            </a:r>
          </a:p>
        </p:txBody>
      </p:sp>
      <p:pic>
        <p:nvPicPr>
          <p:cNvPr id="33" name="Picture 32" descr="hq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90288"/>
            <a:ext cx="164592" cy="164592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51560" y="4572000"/>
            <a:ext cx="310896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Segoe UI"/>
              </a:defRPr>
            </a:pPr>
            <a:r>
              <a:t>SEMS Adherence</a:t>
            </a:r>
          </a:p>
        </p:txBody>
      </p:sp>
      <p:pic>
        <p:nvPicPr>
          <p:cNvPr id="35" name="Picture 34" descr="hq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846319"/>
            <a:ext cx="164592" cy="16459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51560" y="4828031"/>
            <a:ext cx="310896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Segoe UI"/>
              </a:defRPr>
            </a:pPr>
            <a:r>
              <a:t>Green Software Principles</a:t>
            </a:r>
          </a:p>
        </p:txBody>
      </p:sp>
      <p:pic>
        <p:nvPicPr>
          <p:cNvPr id="37" name="Picture 36" descr="hq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102352"/>
            <a:ext cx="164592" cy="164592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51560" y="5084064"/>
            <a:ext cx="310896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Segoe UI"/>
              </a:defRPr>
            </a:pPr>
            <a:r>
              <a:t>Leave Variance Management</a:t>
            </a:r>
          </a:p>
        </p:txBody>
      </p:sp>
      <p:pic>
        <p:nvPicPr>
          <p:cNvPr id="39" name="Picture 38" descr="hq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358384"/>
            <a:ext cx="164592" cy="164592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051560" y="5340096"/>
            <a:ext cx="310896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Segoe UI"/>
              </a:defRPr>
            </a:pPr>
            <a:r>
              <a:t>Time Writing Discipline</a:t>
            </a:r>
          </a:p>
        </p:txBody>
      </p:sp>
      <p:pic>
        <p:nvPicPr>
          <p:cNvPr id="41" name="Picture 40" descr="hq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5614416"/>
            <a:ext cx="164592" cy="164592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051560" y="5596128"/>
            <a:ext cx="310896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Segoe UI"/>
              </a:defRPr>
            </a:pPr>
            <a:r>
              <a:t>Phishing Awareness Training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89120" y="3611880"/>
            <a:ext cx="3429000" cy="2331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89120" y="3611880"/>
            <a:ext cx="731520" cy="36576"/>
          </a:xfrm>
          <a:prstGeom prst="rect">
            <a:avLst/>
          </a:prstGeom>
          <a:solidFill>
            <a:srgbClr val="9E8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2000" y="3794760"/>
            <a:ext cx="594360" cy="594360"/>
          </a:xfrm>
          <a:prstGeom prst="ellipse">
            <a:avLst/>
          </a:prstGeom>
          <a:solidFill>
            <a:srgbClr val="FEF8E7"/>
          </a:solidFill>
          <a:ln w="12700">
            <a:solidFill>
              <a:srgbClr val="9E8D7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hq_cha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3931920"/>
            <a:ext cx="320040" cy="32004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5303520" y="3867912"/>
            <a:ext cx="2011680" cy="4114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9E8D75"/>
                </a:solidFill>
                <a:latin typeface="Segoe UI Semibold"/>
              </a:defRPr>
            </a:pPr>
            <a:r>
              <a:t>CONTINUOUS</a:t>
            </a:r>
            <a:br/>
            <a:r>
              <a:t>IMPROVEMENT</a:t>
            </a:r>
          </a:p>
        </p:txBody>
      </p:sp>
      <p:sp>
        <p:nvSpPr>
          <p:cNvPr id="48" name="Oval 47"/>
          <p:cNvSpPr/>
          <p:nvPr/>
        </p:nvSpPr>
        <p:spPr>
          <a:xfrm>
            <a:off x="4526280" y="448056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701540" y="448056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4876800" y="448056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052060" y="448056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227320" y="448056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02580" y="448056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77840" y="448056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53100" y="448056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928360" y="448056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103620" y="448056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278880" y="448056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454140" y="448056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629400" y="448056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804660" y="448056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979920" y="448056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7155180" y="448056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330440" y="448056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7505700" y="4480560"/>
            <a:ext cx="36576" cy="36576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72000" y="4709160"/>
            <a:ext cx="3063240" cy="4114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9E8D75"/>
                </a:solidFill>
                <a:latin typeface="Segoe UI Semibold"/>
              </a:defRPr>
            </a:pPr>
            <a:r>
              <a:t>FIT 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0" y="5166360"/>
            <a:ext cx="3063240" cy="6400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Segoe UI"/>
              </a:defRPr>
            </a:pPr>
            <a:r>
              <a:t>Initiative is currently active.</a:t>
            </a:r>
            <a:br/>
            <a:r>
              <a:t>Align processes to FIT 4</a:t>
            </a:r>
            <a:br/>
            <a:r>
              <a:t>standards.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138160" y="3611880"/>
            <a:ext cx="3429000" cy="23317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138160" y="3611880"/>
            <a:ext cx="731520" cy="36576"/>
          </a:xfrm>
          <a:prstGeom prst="rect">
            <a:avLst/>
          </a:prstGeom>
          <a:solidFill>
            <a:srgbClr val="4C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8321040" y="3794760"/>
            <a:ext cx="594360" cy="594360"/>
          </a:xfrm>
          <a:prstGeom prst="ellipse">
            <a:avLst/>
          </a:prstGeom>
          <a:solidFill>
            <a:srgbClr val="EAF3EC"/>
          </a:solidFill>
          <a:ln w="12700">
            <a:solidFill>
              <a:srgbClr val="4C8A5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1" name="Picture 70" descr="hq_bad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3931920"/>
            <a:ext cx="320040" cy="320040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9052560" y="3867912"/>
            <a:ext cx="2011680" cy="41148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8A5C"/>
                </a:solidFill>
                <a:latin typeface="Segoe UI Semibold"/>
              </a:defRPr>
            </a:pPr>
            <a:r>
              <a:t>UPSKILLING &amp;</a:t>
            </a:r>
            <a:br/>
            <a:r>
              <a:t>CERTIFICATIONS</a:t>
            </a:r>
          </a:p>
        </p:txBody>
      </p:sp>
      <p:pic>
        <p:nvPicPr>
          <p:cNvPr id="73" name="Picture 72" descr="hq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590288"/>
            <a:ext cx="164592" cy="164592"/>
          </a:xfrm>
          <a:prstGeom prst="rect">
            <a:avLst/>
          </a:prstGeom>
        </p:spPr>
      </p:pic>
      <p:sp>
        <p:nvSpPr>
          <p:cNvPr id="74" name="TextBox 73"/>
          <p:cNvSpPr txBox="1"/>
          <p:nvPr/>
        </p:nvSpPr>
        <p:spPr>
          <a:xfrm>
            <a:off x="8549640" y="4572000"/>
            <a:ext cx="310896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Segoe UI"/>
              </a:defRPr>
            </a:pPr>
            <a:r>
              <a:t>Certifications (GPA / IDP Aligned)</a:t>
            </a:r>
          </a:p>
        </p:txBody>
      </p:sp>
      <p:pic>
        <p:nvPicPr>
          <p:cNvPr id="75" name="Picture 74" descr="hq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4937760"/>
            <a:ext cx="164592" cy="16459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8549640" y="4919472"/>
            <a:ext cx="310896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Segoe UI"/>
              </a:defRPr>
            </a:pPr>
            <a:r>
              <a:t>AI Multiskilling (Batch-2) Started</a:t>
            </a:r>
          </a:p>
        </p:txBody>
      </p:sp>
      <p:pic>
        <p:nvPicPr>
          <p:cNvPr id="77" name="Picture 76" descr="hq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5285232"/>
            <a:ext cx="164592" cy="164592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549640" y="5266944"/>
            <a:ext cx="310896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4A4A"/>
                </a:solidFill>
                <a:latin typeface="Segoe UI"/>
              </a:defRPr>
            </a:pPr>
            <a:r>
              <a:t>ISC2 Security Cert (2026 — Paid)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40080" y="6172200"/>
            <a:ext cx="10835640" cy="502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713232" y="6236208"/>
            <a:ext cx="365760" cy="365760"/>
          </a:xfrm>
          <a:prstGeom prst="ellipse">
            <a:avLst/>
          </a:prstGeom>
          <a:solidFill>
            <a:srgbClr val="EDF2F7"/>
          </a:solidFill>
          <a:ln w="12700">
            <a:solidFill>
              <a:srgbClr val="4A6C9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1" name="Picture 80" descr="hq_targ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5528" y="6318504"/>
            <a:ext cx="201168" cy="201168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1188720" y="6263640"/>
            <a:ext cx="9144" cy="3200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325880" y="6245352"/>
            <a:ext cx="59436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4A4A4A"/>
                </a:solidFill>
                <a:latin typeface="Segoe UI"/>
              </a:defRPr>
            </a:pPr>
            <a:r>
              <a:t>Focused execution across people, process, and security to drive</a:t>
            </a:r>
            <a:br/>
            <a:r>
              <a:t>excellence and readiness for what's next.</a:t>
            </a:r>
          </a:p>
        </p:txBody>
      </p:sp>
      <p:sp>
        <p:nvSpPr>
          <p:cNvPr id="84" name="Oval 83"/>
          <p:cNvSpPr/>
          <p:nvPr/>
        </p:nvSpPr>
        <p:spPr>
          <a:xfrm>
            <a:off x="8092440" y="6263640"/>
            <a:ext cx="320040" cy="320040"/>
          </a:xfrm>
          <a:prstGeom prst="ellipse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5" name="Picture 84" descr="hq_c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6448" y="6327648"/>
            <a:ext cx="182880" cy="182880"/>
          </a:xfrm>
          <a:prstGeom prst="rect">
            <a:avLst/>
          </a:prstGeom>
        </p:spPr>
      </p:pic>
      <p:sp>
        <p:nvSpPr>
          <p:cNvPr id="86" name="Oval 85"/>
          <p:cNvSpPr/>
          <p:nvPr/>
        </p:nvSpPr>
        <p:spPr>
          <a:xfrm>
            <a:off x="8823960" y="6263640"/>
            <a:ext cx="320040" cy="320040"/>
          </a:xfrm>
          <a:prstGeom prst="ellipse">
            <a:avLst/>
          </a:prstGeom>
          <a:solidFill>
            <a:srgbClr val="E6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7" name="Picture 86" descr="hq_cli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7968" y="6327648"/>
            <a:ext cx="182880" cy="182880"/>
          </a:xfrm>
          <a:prstGeom prst="rect">
            <a:avLst/>
          </a:prstGeom>
        </p:spPr>
      </p:pic>
      <p:sp>
        <p:nvSpPr>
          <p:cNvPr id="88" name="Oval 87"/>
          <p:cNvSpPr/>
          <p:nvPr/>
        </p:nvSpPr>
        <p:spPr>
          <a:xfrm>
            <a:off x="9555480" y="6263640"/>
            <a:ext cx="320040" cy="320040"/>
          </a:xfrm>
          <a:prstGeom prst="ellipse">
            <a:avLst/>
          </a:prstGeom>
          <a:solidFill>
            <a:srgbClr val="F9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hq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88" y="6327648"/>
            <a:ext cx="182880" cy="182880"/>
          </a:xfrm>
          <a:prstGeom prst="rect">
            <a:avLst/>
          </a:prstGeom>
        </p:spPr>
      </p:pic>
      <p:sp>
        <p:nvSpPr>
          <p:cNvPr id="90" name="Oval 89"/>
          <p:cNvSpPr/>
          <p:nvPr/>
        </p:nvSpPr>
        <p:spPr>
          <a:xfrm>
            <a:off x="10287000" y="6263640"/>
            <a:ext cx="320040" cy="320040"/>
          </a:xfrm>
          <a:prstGeom prst="ellipse">
            <a:avLst/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1" name="Picture 90" descr="hq_bad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1008" y="6327648"/>
            <a:ext cx="182880" cy="182880"/>
          </a:xfrm>
          <a:prstGeom prst="rect">
            <a:avLst/>
          </a:prstGeom>
        </p:spPr>
      </p:pic>
      <p:sp>
        <p:nvSpPr>
          <p:cNvPr id="92" name="Oval 91"/>
          <p:cNvSpPr/>
          <p:nvPr/>
        </p:nvSpPr>
        <p:spPr>
          <a:xfrm>
            <a:off x="8412480" y="6400800"/>
            <a:ext cx="22860" cy="22860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8595360" y="6373368"/>
            <a:ext cx="22860" cy="22860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8778240" y="6400800"/>
            <a:ext cx="22860" cy="22860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9144000" y="6400800"/>
            <a:ext cx="22860" cy="22860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9326880" y="6373368"/>
            <a:ext cx="22860" cy="22860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9509760" y="6400800"/>
            <a:ext cx="22860" cy="22860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9875519" y="6400800"/>
            <a:ext cx="22860" cy="22860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10058400" y="6373368"/>
            <a:ext cx="22860" cy="22860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10241280" y="6400800"/>
            <a:ext cx="22860" cy="22860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gradFill rotWithShape="1">
            <a:gsLst>
              <a:gs pos="0">
                <a:srgbClr val="FBCE07"/>
              </a:gs>
              <a:gs pos="100000">
                <a:srgbClr val="E0B300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1143000"/>
          </a:xfrm>
          <a:prstGeom prst="rect">
            <a:avLst/>
          </a:prstGeom>
          <a:solidFill>
            <a:srgbClr val="FFE86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28600"/>
            <a:ext cx="502920" cy="502920"/>
          </a:xfrm>
          <a:prstGeom prst="ellipse">
            <a:avLst/>
          </a:prstGeom>
          <a:solidFill>
            <a:srgbClr val="E0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301752"/>
            <a:ext cx="356616" cy="356616"/>
          </a:xfrm>
          <a:prstGeom prst="ellipse">
            <a:avLst/>
          </a:prstGeom>
          <a:solidFill>
            <a:srgbClr val="DD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"/>
            <a:ext cx="9144000" cy="6858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Segoe UI Semibold"/>
              </a:defRPr>
            </a:pPr>
            <a:r>
              <a:t>LT Updates (Option 2: Featured Layout)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C8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777240"/>
            <a:ext cx="22860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88888"/>
                </a:solidFill>
                <a:latin typeface="Segoe UI Semibold"/>
              </a:defRPr>
            </a:pPr>
            <a:r>
              <a:t>INTERNAL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502920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645920"/>
            <a:ext cx="5029200" cy="73152"/>
          </a:xfrm>
          <a:prstGeom prst="rect">
            <a:avLst/>
          </a:prstGeom>
          <a:solidFill>
            <a:srgbClr val="AF6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572000" cy="36576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F6E6A"/>
                </a:solidFill>
                <a:latin typeface="Segoe UI Semibold"/>
              </a:defRPr>
            </a:pPr>
            <a:r>
              <a:t>SECURITY &amp; CONTINUOUS IMPROVEMENT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68880"/>
            <a:ext cx="45720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Segoe UI"/>
              </a:defRPr>
            </a:pPr>
            <a:r>
              <a:t>100% Repo Attestation Achieved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34640"/>
            <a:ext cx="45720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Segoe UI"/>
              </a:defRPr>
            </a:pPr>
            <a:r>
              <a:t>7 Applications | 17 Repos secured across all clusters.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74720"/>
            <a:ext cx="45720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2222"/>
                </a:solidFill>
                <a:latin typeface="Segoe UI"/>
              </a:defRPr>
            </a:pPr>
            <a:r>
              <a:t>FIT 4 Initiative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45720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Segoe UI"/>
              </a:defRPr>
            </a:pPr>
            <a:r>
              <a:t>Currently active. Ensure all team processes align with standards.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1645920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1645920"/>
            <a:ext cx="73152" cy="1280160"/>
          </a:xfrm>
          <a:prstGeom prst="rect">
            <a:avLst/>
          </a:prstGeom>
          <a:solidFill>
            <a:srgbClr val="4A6C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828800"/>
            <a:ext cx="512064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A6C98"/>
                </a:solidFill>
                <a:latin typeface="Segoe UI Semibold"/>
              </a:defRPr>
            </a:pPr>
            <a:r>
              <a:t>DRM TEAM OUTING &amp; AHM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194560"/>
            <a:ext cx="5120640" cy="5486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Segoe UI"/>
              </a:defRPr>
            </a:pPr>
            <a:r>
              <a:t>Planned for 26th June. Inform stakeholders upfront to ensure coverage.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3200400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3200400"/>
            <a:ext cx="73152" cy="1280160"/>
          </a:xfrm>
          <a:prstGeom prst="rect">
            <a:avLst/>
          </a:prstGeom>
          <a:solidFill>
            <a:srgbClr val="3B82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3383280"/>
            <a:ext cx="512064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76"/>
                </a:solidFill>
                <a:latin typeface="Segoe UI Semibold"/>
              </a:defRPr>
            </a:pPr>
            <a:r>
              <a:t>OPERATIONAL 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749040"/>
            <a:ext cx="5120640" cy="5486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Segoe UI"/>
              </a:defRPr>
            </a:pPr>
            <a:r>
              <a:t>Focus on: SEMS, Green Software, Leave Variance, Time Writing, Phishing.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4754880"/>
            <a:ext cx="5577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0" y="4754880"/>
            <a:ext cx="73152" cy="1280160"/>
          </a:xfrm>
          <a:prstGeom prst="rect">
            <a:avLst/>
          </a:prstGeom>
          <a:solidFill>
            <a:srgbClr val="4C8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4937760"/>
            <a:ext cx="512064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C8A5C"/>
                </a:solidFill>
                <a:latin typeface="Segoe UI Semibold"/>
              </a:defRPr>
            </a:pPr>
            <a:r>
              <a:t>UPSKILLING &amp; CERTIFICATIONS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303520"/>
            <a:ext cx="5120640" cy="5486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Segoe UI"/>
              </a:defRPr>
            </a:pPr>
            <a:r>
              <a:t>AI Multiskilling (Batch-2) Started. ISC2 Security Cert (2026 - Paid).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gradFill rotWithShape="1">
            <a:gsLst>
              <a:gs pos="0">
                <a:srgbClr val="FBCE07"/>
              </a:gs>
              <a:gs pos="100000">
                <a:srgbClr val="E0B300"/>
              </a:gs>
            </a:gsLst>
            <a:lin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00" cy="1143000"/>
          </a:xfrm>
          <a:prstGeom prst="rect">
            <a:avLst/>
          </a:prstGeom>
          <a:solidFill>
            <a:srgbClr val="FFE866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28600"/>
            <a:ext cx="502920" cy="502920"/>
          </a:xfrm>
          <a:prstGeom prst="ellipse">
            <a:avLst/>
          </a:prstGeom>
          <a:solidFill>
            <a:srgbClr val="E0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30352" y="301752"/>
            <a:ext cx="356616" cy="356616"/>
          </a:xfrm>
          <a:prstGeom prst="ellipse">
            <a:avLst/>
          </a:prstGeom>
          <a:solidFill>
            <a:srgbClr val="DD1D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56032"/>
            <a:ext cx="9144000" cy="6858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22222"/>
                </a:solidFill>
                <a:latin typeface="Segoe UI Semibold"/>
              </a:defRPr>
            </a:pPr>
            <a:r>
              <a:t>LT Updates (Option 3: Quadrants)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33856"/>
            <a:ext cx="12191695" cy="18288"/>
          </a:xfrm>
          <a:prstGeom prst="rect">
            <a:avLst/>
          </a:prstGeom>
          <a:solidFill>
            <a:srgbClr val="C8A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0" y="777240"/>
            <a:ext cx="22860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888888"/>
                </a:solidFill>
                <a:latin typeface="Segoe UI Semibold"/>
              </a:defRPr>
            </a:pPr>
            <a:r>
              <a:t>INTERNAL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530352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4A6C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2103120"/>
            <a:ext cx="9144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2F2F2"/>
                </a:solidFill>
                <a:latin typeface="Segoe UI Semibold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920240"/>
            <a:ext cx="47548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6C98"/>
                </a:solidFill>
                <a:latin typeface="Segoe UI Semibold"/>
              </a:defRPr>
            </a:pPr>
            <a:r>
              <a:t>TEAM OUTING &amp; AHM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377440"/>
            <a:ext cx="438912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Segoe UI"/>
              </a:defRPr>
            </a:pPr>
            <a:r>
              <a:t>26th June</a:t>
            </a:r>
            <a:br/>
            <a:r>
              <a:t>Inform stakeholders upfront.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645920"/>
            <a:ext cx="530352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AF6E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20" y="2103120"/>
            <a:ext cx="9144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2F2F2"/>
                </a:solidFill>
                <a:latin typeface="Segoe UI Semibold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47548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F6E6A"/>
                </a:solidFill>
                <a:latin typeface="Segoe UI Semibold"/>
              </a:defRPr>
            </a:pPr>
            <a:r>
              <a:t>SECURITY &amp; COMPLIANCE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77440"/>
            <a:ext cx="438912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Segoe UI"/>
              </a:defRPr>
            </a:pPr>
            <a:r>
              <a:t>100% Repo Attestation (7 Apps, 17 Repos)</a:t>
            </a:r>
            <a:br/>
            <a:r>
              <a:t>Focus on SEMS &amp; Phishing Awareness.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530352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9E8D7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4389120"/>
            <a:ext cx="9144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2F2F2"/>
                </a:solidFill>
                <a:latin typeface="Segoe UI Semibold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06240"/>
            <a:ext cx="47548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E8D75"/>
                </a:solidFill>
                <a:latin typeface="Segoe UI Semibold"/>
              </a:defRPr>
            </a:pPr>
            <a:r>
              <a:t>CONTINUOUS IMPROVEMENT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438912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Segoe UI"/>
              </a:defRPr>
            </a:pPr>
            <a:r>
              <a:t>FIT 4 Initiative Active</a:t>
            </a:r>
            <a:br/>
            <a:r>
              <a:t>Align processes to standards.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931920"/>
            <a:ext cx="5303520" cy="20116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4C8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32720" y="4389120"/>
            <a:ext cx="91440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2F2F2"/>
                </a:solidFill>
                <a:latin typeface="Segoe UI Semibold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06240"/>
            <a:ext cx="475488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8A5C"/>
                </a:solidFill>
                <a:latin typeface="Segoe UI Semibold"/>
              </a:defRPr>
            </a:pPr>
            <a:r>
              <a:t>UPSKILLING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663440"/>
            <a:ext cx="4389120" cy="9144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4A4A"/>
                </a:solidFill>
                <a:latin typeface="Segoe UI"/>
              </a:defRPr>
            </a:pPr>
            <a:r>
              <a:t>AI Multiskilling (Batch-2)</a:t>
            </a:r>
            <a:br/>
            <a:r>
              <a:t>ISC2 Security Cert (2026 Paid)</a:t>
            </a:r>
            <a:br/>
            <a:r>
              <a:t>GPA / IDP Aligned.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274320"/>
            <a:ext cx="822960" cy="822960"/>
          </a:xfrm>
          <a:prstGeom prst="ellipse">
            <a:avLst/>
          </a:prstGeom>
          <a:solidFill>
            <a:srgbClr val="FEF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yoga_lo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4480" y="320040"/>
            <a:ext cx="4572000" cy="45720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222222"/>
                </a:solidFill>
                <a:latin typeface="Segoe UI Semibold"/>
              </a:defRPr>
            </a:pPr>
            <a:r>
              <a:t>Why Yoga for IT Teams?</a:t>
            </a:r>
          </a:p>
        </p:txBody>
      </p:sp>
      <p:sp>
        <p:nvSpPr>
          <p:cNvPr id="5" name="Rectangle 4"/>
          <p:cNvSpPr/>
          <p:nvPr/>
        </p:nvSpPr>
        <p:spPr>
          <a:xfrm>
            <a:off x="1554480" y="822960"/>
            <a:ext cx="1371600" cy="45720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yoga_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82880"/>
            <a:ext cx="320040" cy="3200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18872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F9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q_yoga_cha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325880"/>
            <a:ext cx="274320" cy="2743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34440" y="1325880"/>
            <a:ext cx="137160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F6E6A"/>
                </a:solidFill>
                <a:latin typeface="Segoe UI Semibold"/>
              </a:defRPr>
            </a:pPr>
            <a:r>
              <a:t>Long sitting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280160"/>
            <a:ext cx="13716" cy="3657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1325880"/>
            <a:ext cx="274320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Segoe UI"/>
              </a:defRPr>
            </a:pPr>
            <a:r>
              <a:t>Back &amp; neck pain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187452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hq_yoga_monito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011680"/>
            <a:ext cx="274320" cy="27432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34440" y="2011680"/>
            <a:ext cx="137160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A6C98"/>
                </a:solidFill>
                <a:latin typeface="Segoe UI Semibold"/>
              </a:defRPr>
            </a:pPr>
            <a:r>
              <a:t>Screen time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1965960"/>
            <a:ext cx="13716" cy="3657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2011680"/>
            <a:ext cx="274320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Segoe UI"/>
              </a:defRPr>
            </a:pPr>
            <a:r>
              <a:t>Eye strain &amp; fatigue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56032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0080" y="2606040"/>
            <a:ext cx="457200" cy="457200"/>
          </a:xfrm>
          <a:prstGeom prst="ellipse">
            <a:avLst/>
          </a:prstGeom>
          <a:solidFill>
            <a:srgbClr val="FEF8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hq_yoga_stre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697480"/>
            <a:ext cx="274320" cy="2743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234440" y="2697480"/>
            <a:ext cx="137160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B58D1A"/>
                </a:solidFill>
                <a:latin typeface="Segoe UI Semibold"/>
              </a:defRPr>
            </a:pPr>
            <a:r>
              <a:t>Work pressure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2651760"/>
            <a:ext cx="13716" cy="36576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2697480"/>
            <a:ext cx="274320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Segoe UI"/>
              </a:defRPr>
            </a:pPr>
            <a:r>
              <a:t>Stress &amp; low focus</a:t>
            </a:r>
          </a:p>
        </p:txBody>
      </p:sp>
      <p:pic>
        <p:nvPicPr>
          <p:cNvPr id="25" name="Picture 24" descr="yoga_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920240"/>
            <a:ext cx="228600" cy="228600"/>
          </a:xfrm>
          <a:prstGeom prst="rect">
            <a:avLst/>
          </a:prstGeom>
        </p:spPr>
      </p:pic>
      <p:sp>
        <p:nvSpPr>
          <p:cNvPr id="26" name="Rounded Rectangle 25"/>
          <p:cNvSpPr/>
          <p:nvPr/>
        </p:nvSpPr>
        <p:spPr>
          <a:xfrm>
            <a:off x="548640" y="324612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0080" y="3291840"/>
            <a:ext cx="457200" cy="457200"/>
          </a:xfrm>
          <a:prstGeom prst="ellipse">
            <a:avLst/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hq_yoga_po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337560"/>
            <a:ext cx="365760" cy="36576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34440" y="3383280"/>
            <a:ext cx="109728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C8A5C"/>
                </a:solidFill>
                <a:latin typeface="Segoe UI Semibold"/>
              </a:defRPr>
            </a:pPr>
            <a:r>
              <a:t>Solution: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3383280"/>
            <a:ext cx="3200400" cy="3200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Segoe UI"/>
              </a:defRPr>
            </a:pPr>
            <a:r>
              <a:t>Simple 5-min yoga at your desk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840480"/>
            <a:ext cx="27432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2222"/>
                </a:solidFill>
                <a:latin typeface="Segoe UI Semibold"/>
              </a:defRPr>
            </a:pPr>
            <a:r>
              <a:t>SESSION BREAKDOWN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114800"/>
            <a:ext cx="1371600" cy="36576"/>
          </a:xfrm>
          <a:prstGeom prst="rect">
            <a:avLst/>
          </a:prstGeom>
          <a:solidFill>
            <a:srgbClr val="FBCE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0080" y="4453128"/>
            <a:ext cx="109728" cy="10972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90372" y="4572000"/>
            <a:ext cx="9144" cy="3200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8680" y="4389120"/>
            <a:ext cx="274320" cy="274320"/>
          </a:xfrm>
          <a:prstGeom prst="ellipse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yoga_c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434840"/>
            <a:ext cx="182880" cy="182880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1234440" y="4389120"/>
            <a:ext cx="640080" cy="27432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A4A4A"/>
                </a:solidFill>
                <a:latin typeface="Segoe UI Semibold"/>
              </a:defRPr>
            </a:pPr>
            <a:r>
              <a:t>1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65960" y="4407408"/>
            <a:ext cx="36576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22222"/>
                </a:solidFill>
                <a:latin typeface="Segoe UI Semibold"/>
              </a:defRPr>
            </a:pPr>
            <a:r>
              <a:t>Why Yoga Matters</a:t>
            </a:r>
          </a:p>
        </p:txBody>
      </p:sp>
      <p:sp>
        <p:nvSpPr>
          <p:cNvPr id="39" name="Oval 38"/>
          <p:cNvSpPr/>
          <p:nvPr/>
        </p:nvSpPr>
        <p:spPr>
          <a:xfrm>
            <a:off x="640080" y="4910328"/>
            <a:ext cx="109728" cy="10972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90372" y="5029200"/>
            <a:ext cx="9144" cy="32004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68680" y="4846320"/>
            <a:ext cx="274320" cy="274320"/>
          </a:xfrm>
          <a:prstGeom prst="ellipse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yoga_c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892040"/>
            <a:ext cx="182880" cy="182880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1234440" y="4846320"/>
            <a:ext cx="640080" cy="27432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A4A4A"/>
                </a:solidFill>
                <a:latin typeface="Segoe UI Semibold"/>
              </a:defRPr>
            </a:pPr>
            <a:r>
              <a:t>3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65960" y="4864608"/>
            <a:ext cx="128016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22222"/>
                </a:solidFill>
                <a:latin typeface="Segoe UI Semibold"/>
              </a:defRPr>
            </a:pPr>
            <a:r>
              <a:t>Demo 2–3 Poses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00400" y="4864608"/>
            <a:ext cx="22860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4A4A4A"/>
                </a:solidFill>
                <a:latin typeface="Segoe UI"/>
              </a:defRPr>
            </a:pPr>
            <a:r>
              <a:t> (Neck + Breathing + Stretch)</a:t>
            </a:r>
          </a:p>
        </p:txBody>
      </p:sp>
      <p:sp>
        <p:nvSpPr>
          <p:cNvPr id="46" name="Oval 45"/>
          <p:cNvSpPr/>
          <p:nvPr/>
        </p:nvSpPr>
        <p:spPr>
          <a:xfrm>
            <a:off x="640080" y="5367528"/>
            <a:ext cx="109728" cy="109728"/>
          </a:xfrm>
          <a:prstGeom prst="ellipse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68680" y="5303520"/>
            <a:ext cx="274320" cy="274320"/>
          </a:xfrm>
          <a:prstGeom prst="ellipse">
            <a:avLst/>
          </a:prstGeom>
          <a:solidFill>
            <a:srgbClr val="ED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yoga_c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5349240"/>
            <a:ext cx="182880" cy="182880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1234440" y="5303520"/>
            <a:ext cx="640080" cy="274320"/>
          </a:xfrm>
          <a:prstGeom prst="roundRect">
            <a:avLst>
              <a:gd name="adj" fmla="val 1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4A4A4A"/>
                </a:solidFill>
                <a:latin typeface="Segoe UI Semibold"/>
              </a:defRPr>
            </a:pPr>
            <a:r>
              <a:t>1 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65960" y="5321808"/>
            <a:ext cx="36576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22222"/>
                </a:solidFill>
                <a:latin typeface="Segoe UI Semibold"/>
              </a:defRPr>
            </a:pPr>
            <a:r>
              <a:t>Closing Quote &amp; Takeaway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035040" y="274320"/>
            <a:ext cx="5760720" cy="5120640"/>
          </a:xfrm>
          <a:prstGeom prst="roundRect">
            <a:avLst>
              <a:gd name="adj" fmla="val 4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2" name="Picture 51" descr="yoga_office_178128454622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72200" y="411480"/>
            <a:ext cx="5486400" cy="4846320"/>
          </a:xfrm>
          <a:prstGeom prst="rect">
            <a:avLst/>
          </a:prstGeom>
        </p:spPr>
      </p:pic>
      <p:pic>
        <p:nvPicPr>
          <p:cNvPr id="53" name="Picture 52" descr="yoga_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137160"/>
            <a:ext cx="274320" cy="274320"/>
          </a:xfrm>
          <a:prstGeom prst="rect">
            <a:avLst/>
          </a:prstGeom>
        </p:spPr>
      </p:pic>
      <p:pic>
        <p:nvPicPr>
          <p:cNvPr id="54" name="Picture 53" descr="yoga_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0" y="2286000"/>
            <a:ext cx="274320" cy="274320"/>
          </a:xfrm>
          <a:prstGeom prst="rect">
            <a:avLst/>
          </a:prstGeom>
        </p:spPr>
      </p:pic>
      <p:sp>
        <p:nvSpPr>
          <p:cNvPr id="55" name="Rounded Rectangle 54"/>
          <p:cNvSpPr/>
          <p:nvPr/>
        </p:nvSpPr>
        <p:spPr>
          <a:xfrm>
            <a:off x="6035040" y="5577840"/>
            <a:ext cx="576072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72200" y="5669280"/>
            <a:ext cx="548640" cy="548640"/>
          </a:xfrm>
          <a:prstGeom prst="ellipse">
            <a:avLst/>
          </a:prstGeom>
          <a:solidFill>
            <a:srgbClr val="EAF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hq_yoga_lotu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7920" y="5715000"/>
            <a:ext cx="457200" cy="4572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6858000" y="5669280"/>
            <a:ext cx="36576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4A4A"/>
                </a:solidFill>
                <a:latin typeface="Segoe UI"/>
              </a:defRPr>
            </a:pPr>
            <a:r>
              <a:t>A few mindful minutes today can lead to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5897880"/>
            <a:ext cx="3657600" cy="27432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8A5C"/>
                </a:solidFill>
                <a:latin typeface="Segoe UI Semibold"/>
              </a:defRPr>
            </a:pPr>
            <a:r>
              <a:t>better health, focus &amp; productivity.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789920" y="5715000"/>
            <a:ext cx="9144" cy="457200"/>
          </a:xfrm>
          <a:prstGeom prst="rect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hq_yoga_stretch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018520" y="5623560"/>
            <a:ext cx="640080" cy="640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