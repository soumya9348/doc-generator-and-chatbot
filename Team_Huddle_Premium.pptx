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jpg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E866"/>
              </a:gs>
              <a:gs pos="100000">
                <a:srgbClr val="FBCE0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gradFill rotWithShape="1">
            <a:gsLst>
              <a:gs pos="0">
                <a:srgbClr val="FBCE07"/>
              </a:gs>
              <a:gs pos="100000">
                <a:srgbClr val="E0B30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E0B3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E0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658368"/>
            <a:ext cx="603504" cy="603504"/>
          </a:xfrm>
          <a:prstGeom prst="ellipse">
            <a:avLst/>
          </a:prstGeom>
          <a:solidFill>
            <a:srgbClr val="D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8229600" cy="1371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22222"/>
                </a:solidFill>
                <a:latin typeface="Segoe UI Semibold"/>
              </a:defRPr>
            </a:pPr>
            <a:r>
              <a:t>Team Huddle (E-Mobility &amp; Network) –</a:t>
            </a:r>
            <a:br/>
            <a:r>
              <a:t>Focus, Prioritize, Deliver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15th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594360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4A4A4A"/>
                </a:solidFill>
                <a:latin typeface="Segoe UI Semibold"/>
              </a:defRPr>
            </a:pPr>
            <a:r>
              <a:t>INTERNAL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74320"/>
            <a:ext cx="256032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D1D21"/>
                </a:solidFill>
                <a:latin typeface="Segoe UI Semibold"/>
              </a:defRPr>
            </a:pPr>
            <a:r>
              <a:t>DRAFT 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FBCE07"/>
              </a:gs>
              <a:gs pos="100000">
                <a:srgbClr val="E0B30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00" cy="1143000"/>
          </a:xfrm>
          <a:prstGeom prst="rect">
            <a:avLst/>
          </a:prstGeom>
          <a:solidFill>
            <a:srgbClr val="FFE866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28600"/>
            <a:ext cx="502920" cy="502920"/>
          </a:xfrm>
          <a:prstGeom prst="ellipse">
            <a:avLst/>
          </a:prstGeom>
          <a:solidFill>
            <a:srgbClr val="E0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0352" y="301752"/>
            <a:ext cx="356616" cy="356616"/>
          </a:xfrm>
          <a:prstGeom prst="ellipse">
            <a:avLst/>
          </a:prstGeom>
          <a:solidFill>
            <a:srgbClr val="D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"/>
            <a:ext cx="9144000" cy="6858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22222"/>
                </a:solidFill>
                <a:latin typeface="Segoe UI Semibold"/>
              </a:defRPr>
            </a:pPr>
            <a:r>
              <a:t>Theme: Focus, Prioritize, Deliver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C8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0" y="777240"/>
            <a:ext cx="2286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888888"/>
                </a:solidFill>
                <a:latin typeface="Segoe UI Semibold"/>
              </a:defRPr>
            </a:pPr>
            <a:r>
              <a:t>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4A4A4A"/>
                </a:solidFill>
                <a:latin typeface="Segoe UI"/>
              </a:rPr>
              <a:t>Execution Excellence is not about doing more — it is about </a:t>
            </a:r>
            <a:r>
              <a:rPr sz="1400" b="1">
                <a:solidFill>
                  <a:srgbClr val="3B8276"/>
                </a:solidFill>
                <a:latin typeface="Segoe UI Semibold"/>
              </a:rPr>
              <a:t>doing the right things</a:t>
            </a:r>
            <a:r>
              <a:rPr sz="1400">
                <a:solidFill>
                  <a:srgbClr val="4A4A4A"/>
                </a:solidFill>
                <a:latin typeface="Segoe UI"/>
              </a:rPr>
              <a:t>, </a:t>
            </a:r>
            <a:r>
              <a:rPr sz="1400" b="1">
                <a:solidFill>
                  <a:srgbClr val="3B8276"/>
                </a:solidFill>
                <a:latin typeface="Segoe UI Semibold"/>
              </a:rPr>
              <a:t>in the right order</a:t>
            </a:r>
            <a:r>
              <a:rPr sz="1400">
                <a:solidFill>
                  <a:srgbClr val="4A4A4A"/>
                </a:solidFill>
                <a:latin typeface="Segoe UI"/>
              </a:rPr>
              <a:t>, and </a:t>
            </a:r>
            <a:r>
              <a:rPr sz="1400" b="1">
                <a:solidFill>
                  <a:srgbClr val="3B8276"/>
                </a:solidFill>
                <a:latin typeface="Segoe UI Semibold"/>
              </a:rPr>
              <a:t>finishing them with discipline.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74720" cy="914400"/>
          </a:xfrm>
          <a:prstGeom prst="roundRect">
            <a:avLst>
              <a:gd name="adj" fmla="val 4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73152" cy="91440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21408"/>
            <a:ext cx="310896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59152"/>
            <a:ext cx="310896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4A4A4A"/>
                </a:solidFill>
                <a:latin typeface="Segoe UI"/>
              </a:defRPr>
            </a:pPr>
            <a:r>
              <a:t>Define outcomes, reduce noise, keep top priorities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11680"/>
            <a:ext cx="3474720" cy="914400"/>
          </a:xfrm>
          <a:prstGeom prst="roundRect">
            <a:avLst>
              <a:gd name="adj" fmla="val 4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011680"/>
            <a:ext cx="73152" cy="914400"/>
          </a:xfrm>
          <a:prstGeom prst="rect">
            <a:avLst/>
          </a:prstGeom>
          <a:solidFill>
            <a:srgbClr val="3B8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121408"/>
            <a:ext cx="310896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76"/>
                </a:solidFill>
                <a:latin typeface="Segoe UI Semibold"/>
              </a:defRPr>
            </a:pPr>
            <a:r>
              <a:t>PRIORITIZE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359152"/>
            <a:ext cx="310896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4A4A4A"/>
                </a:solidFill>
                <a:latin typeface="Segoe UI"/>
              </a:defRPr>
            </a:pPr>
            <a:r>
              <a:t>Sequence by value, risk, and dependencies.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011680"/>
            <a:ext cx="3474720" cy="914400"/>
          </a:xfrm>
          <a:prstGeom prst="roundRect">
            <a:avLst>
              <a:gd name="adj" fmla="val 4000"/>
            </a:avLst>
          </a:prstGeom>
          <a:solidFill>
            <a:srgbClr val="FE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2011680"/>
            <a:ext cx="73152" cy="914400"/>
          </a:xfrm>
          <a:prstGeom prst="rect">
            <a:avLst/>
          </a:prstGeom>
          <a:solidFill>
            <a:srgbClr val="B58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21408"/>
            <a:ext cx="310896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58D1A"/>
                </a:solidFill>
                <a:latin typeface="Segoe UI Semibold"/>
              </a:defRPr>
            </a:pPr>
            <a:r>
              <a:t>DELIVER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359152"/>
            <a:ext cx="310896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4A4A4A"/>
                </a:solidFill>
                <a:latin typeface="Segoe UI"/>
              </a:defRPr>
            </a:pPr>
            <a:r>
              <a:t>Visible checkpoints, ownership, pace, and quality closure.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00400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2026 EXECUTION THEMES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97680"/>
            <a:ext cx="10881360" cy="36576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11396"/>
            <a:ext cx="10881360" cy="9144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00200" y="4261104"/>
            <a:ext cx="91440" cy="91440"/>
          </a:xfrm>
          <a:prstGeom prst="ellipse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41348" y="4251960"/>
            <a:ext cx="9144" cy="4572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3566160"/>
            <a:ext cx="182880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D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566160"/>
            <a:ext cx="1828800" cy="36576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39312"/>
            <a:ext cx="182880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JAN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858768"/>
            <a:ext cx="1645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4A4A4A"/>
                </a:solidFill>
                <a:latin typeface="Segoe UI"/>
              </a:defRPr>
            </a:pPr>
            <a:r>
              <a:t>Clarity First</a:t>
            </a:r>
          </a:p>
        </p:txBody>
      </p:sp>
      <p:sp>
        <p:nvSpPr>
          <p:cNvPr id="31" name="Oval 30"/>
          <p:cNvSpPr/>
          <p:nvPr/>
        </p:nvSpPr>
        <p:spPr>
          <a:xfrm>
            <a:off x="3749040" y="4261104"/>
            <a:ext cx="91440" cy="91440"/>
          </a:xfrm>
          <a:prstGeom prst="ellipse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90188" y="4297680"/>
            <a:ext cx="9144" cy="13716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880360" y="4434840"/>
            <a:ext cx="182880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D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0360" y="4434840"/>
            <a:ext cx="1828800" cy="36576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0360" y="4507992"/>
            <a:ext cx="182880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FEB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4727448"/>
            <a:ext cx="1645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4A4A4A"/>
                </a:solidFill>
                <a:latin typeface="Segoe UI"/>
              </a:defRPr>
            </a:pPr>
            <a:r>
              <a:t>Execute With Excellence</a:t>
            </a:r>
          </a:p>
        </p:txBody>
      </p:sp>
      <p:sp>
        <p:nvSpPr>
          <p:cNvPr id="37" name="Oval 36"/>
          <p:cNvSpPr/>
          <p:nvPr/>
        </p:nvSpPr>
        <p:spPr>
          <a:xfrm>
            <a:off x="5897880" y="4261104"/>
            <a:ext cx="91440" cy="91440"/>
          </a:xfrm>
          <a:prstGeom prst="ellipse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9028" y="4251960"/>
            <a:ext cx="9144" cy="4572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0" y="3566160"/>
            <a:ext cx="182880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D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0" y="3566160"/>
            <a:ext cx="1828800" cy="36576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0" y="3639312"/>
            <a:ext cx="182880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MAR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858768"/>
            <a:ext cx="1645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4A4A4A"/>
                </a:solidFill>
                <a:latin typeface="Segoe UI"/>
              </a:defRPr>
            </a:pPr>
            <a:r>
              <a:t>Attest, Remediate, Protect</a:t>
            </a:r>
          </a:p>
        </p:txBody>
      </p:sp>
      <p:sp>
        <p:nvSpPr>
          <p:cNvPr id="43" name="Oval 42"/>
          <p:cNvSpPr/>
          <p:nvPr/>
        </p:nvSpPr>
        <p:spPr>
          <a:xfrm>
            <a:off x="8046720" y="4261104"/>
            <a:ext cx="91440" cy="91440"/>
          </a:xfrm>
          <a:prstGeom prst="ellipse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87868" y="4297680"/>
            <a:ext cx="9144" cy="13716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178040" y="4434840"/>
            <a:ext cx="182880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D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178040" y="4434840"/>
            <a:ext cx="1828800" cy="36576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78040" y="4507992"/>
            <a:ext cx="182880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APR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4727448"/>
            <a:ext cx="1645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4A4A4A"/>
                </a:solidFill>
                <a:latin typeface="Segoe UI"/>
              </a:defRPr>
            </a:pPr>
            <a:r>
              <a:t>Reflect, Align, Accelerate</a:t>
            </a:r>
          </a:p>
        </p:txBody>
      </p:sp>
      <p:sp>
        <p:nvSpPr>
          <p:cNvPr id="49" name="Oval 48"/>
          <p:cNvSpPr/>
          <p:nvPr/>
        </p:nvSpPr>
        <p:spPr>
          <a:xfrm>
            <a:off x="10195560" y="4261104"/>
            <a:ext cx="91440" cy="91440"/>
          </a:xfrm>
          <a:prstGeom prst="ellipse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236708" y="4251960"/>
            <a:ext cx="9144" cy="4572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326880" y="3566160"/>
            <a:ext cx="182880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D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26880" y="3566160"/>
            <a:ext cx="1828800" cy="36576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0" y="3639312"/>
            <a:ext cx="182880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18320" y="3858768"/>
            <a:ext cx="1645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4A4A4A"/>
                </a:solidFill>
                <a:latin typeface="Segoe UI"/>
              </a:defRPr>
            </a:pPr>
            <a:r>
              <a:t>Standardize &amp; Scale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" y="557784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5577840"/>
            <a:ext cx="54864" cy="914400"/>
          </a:xfrm>
          <a:prstGeom prst="rect">
            <a:avLst/>
          </a:prstGeom>
          <a:solidFill>
            <a:srgbClr val="9E8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5715000"/>
            <a:ext cx="493776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E8D75"/>
                </a:solidFill>
                <a:latin typeface="Segoe UI Semibold"/>
              </a:defRPr>
            </a:pPr>
            <a:r>
              <a:t>ACTION 1: Mid-Year GPA Discussion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5943600"/>
            <a:ext cx="493776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4A4A"/>
                </a:solidFill>
                <a:latin typeface="Segoe UI"/>
              </a:defRPr>
            </a:pPr>
            <a:r>
              <a:t>Closure by Mon, 6th July  •  LM to setup connects (Workday/Email)</a:t>
            </a:r>
            <a:br/>
            <a:r>
              <a:t>Stakeholders: Portfolio TLs, Tech Leads, Architect, PM, Sr. BAs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7784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F9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77840"/>
            <a:ext cx="54864" cy="914400"/>
          </a:xfrm>
          <a:prstGeom prst="rect">
            <a:avLst/>
          </a:prstGeom>
          <a:solidFill>
            <a:srgbClr val="AF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5715000"/>
            <a:ext cx="4937760" cy="228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F6E6A"/>
                </a:solidFill>
                <a:latin typeface="Segoe UI Semibold"/>
              </a:defRPr>
            </a:pPr>
            <a:r>
              <a:t>ACTION 2: Individual Development Plan (IDP)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943600"/>
            <a:ext cx="493776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4A4A"/>
                </a:solidFill>
                <a:latin typeface="Segoe UI"/>
              </a:defRPr>
            </a:pPr>
            <a:r>
              <a:t>Complete your IDP Discussion</a:t>
            </a:r>
            <a:br/>
            <a:r>
              <a:t>Track your development plan and items for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FBCE07"/>
              </a:gs>
              <a:gs pos="100000">
                <a:srgbClr val="E0B30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00" cy="1143000"/>
          </a:xfrm>
          <a:prstGeom prst="rect">
            <a:avLst/>
          </a:prstGeom>
          <a:solidFill>
            <a:srgbClr val="FFE866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28600"/>
            <a:ext cx="502920" cy="502920"/>
          </a:xfrm>
          <a:prstGeom prst="ellipse">
            <a:avLst/>
          </a:prstGeom>
          <a:solidFill>
            <a:srgbClr val="E0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0352" y="301752"/>
            <a:ext cx="356616" cy="356616"/>
          </a:xfrm>
          <a:prstGeom prst="ellipse">
            <a:avLst/>
          </a:prstGeom>
          <a:solidFill>
            <a:srgbClr val="D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"/>
            <a:ext cx="9144000" cy="6858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22222"/>
                </a:solidFill>
                <a:latin typeface="Segoe UI Semibold"/>
              </a:defRPr>
            </a:pPr>
            <a:r>
              <a:t>Leadership Team Updates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C8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0" y="777240"/>
            <a:ext cx="2286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888888"/>
                </a:solidFill>
                <a:latin typeface="Segoe UI Semibold"/>
              </a:defRPr>
            </a:pPr>
            <a:r>
              <a:t>INTERNAL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5303520" cy="19659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914400" cy="36576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691640"/>
            <a:ext cx="594360" cy="594360"/>
          </a:xfrm>
          <a:prstGeom prst="ellipse">
            <a:avLst/>
          </a:prstGeom>
          <a:solidFill>
            <a:srgbClr val="EDF2F7"/>
          </a:solidFill>
          <a:ln w="12700">
            <a:solidFill>
              <a:srgbClr val="4A6C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q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28800"/>
            <a:ext cx="320040" cy="320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1783080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6C98"/>
                </a:solidFill>
                <a:latin typeface="Segoe UI Semibold"/>
              </a:defRPr>
            </a:pPr>
            <a:r>
              <a:t>DRM TEAM OUTING &amp; AHM</a:t>
            </a:r>
          </a:p>
        </p:txBody>
      </p:sp>
      <p:pic>
        <p:nvPicPr>
          <p:cNvPr id="14" name="Picture 13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304288"/>
            <a:ext cx="164592" cy="1645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83080" y="2286000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4A4A"/>
                </a:solidFill>
                <a:latin typeface="Segoe UI"/>
              </a:defRPr>
            </a:pPr>
            <a:r>
              <a:t>Planned for 26th June</a:t>
            </a:r>
          </a:p>
        </p:txBody>
      </p:sp>
      <p:pic>
        <p:nvPicPr>
          <p:cNvPr id="16" name="Picture 15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624328"/>
            <a:ext cx="164592" cy="1645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83080" y="2606040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4A4A"/>
                </a:solidFill>
                <a:latin typeface="Segoe UI"/>
              </a:defRPr>
            </a:pPr>
            <a:r>
              <a:t>Inform stakeholders upfront</a:t>
            </a:r>
            <a:br/>
            <a:r>
              <a:t>to ensure 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417320"/>
            <a:ext cx="5303520" cy="19659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417320"/>
            <a:ext cx="914400" cy="36576"/>
          </a:xfrm>
          <a:prstGeom prst="rect">
            <a:avLst/>
          </a:prstGeom>
          <a:solidFill>
            <a:srgbClr val="AF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1691640"/>
            <a:ext cx="594360" cy="594360"/>
          </a:xfrm>
          <a:prstGeom prst="ellipse">
            <a:avLst/>
          </a:prstGeom>
          <a:solidFill>
            <a:srgbClr val="F9EDEC"/>
          </a:solidFill>
          <a:ln w="12700">
            <a:solidFill>
              <a:srgbClr val="AF6E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q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828800"/>
            <a:ext cx="320040" cy="320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78040" y="1783080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F6E6A"/>
                </a:solidFill>
                <a:latin typeface="Segoe UI Semibold"/>
              </a:defRPr>
            </a:pPr>
            <a:r>
              <a:t>SECURITY &amp; COMPLIANCE</a:t>
            </a:r>
          </a:p>
        </p:txBody>
      </p:sp>
      <p:pic>
        <p:nvPicPr>
          <p:cNvPr id="23" name="Picture 22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304288"/>
            <a:ext cx="164592" cy="16459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06640" y="2286000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4A4A"/>
                </a:solidFill>
                <a:latin typeface="Segoe UI"/>
              </a:defRPr>
            </a:pPr>
            <a:r>
              <a:t>Security focus remains a top</a:t>
            </a:r>
            <a:br/>
            <a:r>
              <a:t>priority across all clusters.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78040" y="2743200"/>
            <a:ext cx="3931920" cy="502920"/>
          </a:xfrm>
          <a:prstGeom prst="roundRect">
            <a:avLst>
              <a:gd name="adj" fmla="val 4000"/>
            </a:avLst>
          </a:prstGeom>
          <a:solidFill>
            <a:srgbClr val="F9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q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192" y="2770632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2788920"/>
            <a:ext cx="320040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AF6E6A"/>
                </a:solidFill>
                <a:latin typeface="Segoe UI Semibold"/>
              </a:defRPr>
            </a:pPr>
            <a:r>
              <a:t>100% Repo Attestation Achieved</a:t>
            </a:r>
            <a:br/>
            <a:r>
              <a:t>(7 Apps, 17 Repos)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611880"/>
            <a:ext cx="3429000" cy="2331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611880"/>
            <a:ext cx="731520" cy="36576"/>
          </a:xfrm>
          <a:prstGeom prst="rect">
            <a:avLst/>
          </a:prstGeom>
          <a:solidFill>
            <a:srgbClr val="3B8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794760"/>
            <a:ext cx="594360" cy="594360"/>
          </a:xfrm>
          <a:prstGeom prst="ellipse">
            <a:avLst/>
          </a:prstGeom>
          <a:solidFill>
            <a:srgbClr val="E6F2EF"/>
          </a:solidFill>
          <a:ln w="12700">
            <a:solidFill>
              <a:srgbClr val="3B827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hq_cl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931920"/>
            <a:ext cx="320040" cy="320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54480" y="3867912"/>
            <a:ext cx="201168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76"/>
                </a:solidFill>
                <a:latin typeface="Segoe UI Semibold"/>
              </a:defRPr>
            </a:pPr>
            <a:r>
              <a:t>OPERATIONAL</a:t>
            </a:r>
            <a:br/>
            <a:r>
              <a:t>COMPLIANCE</a:t>
            </a:r>
          </a:p>
        </p:txBody>
      </p:sp>
      <p:pic>
        <p:nvPicPr>
          <p:cNvPr id="33" name="Picture 32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590288"/>
            <a:ext cx="164592" cy="16459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51560" y="4572000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SEMS Adherence</a:t>
            </a:r>
          </a:p>
        </p:txBody>
      </p:sp>
      <p:pic>
        <p:nvPicPr>
          <p:cNvPr id="35" name="Picture 34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846319"/>
            <a:ext cx="164592" cy="16459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51560" y="4828031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Green Software Principles</a:t>
            </a:r>
          </a:p>
        </p:txBody>
      </p:sp>
      <p:pic>
        <p:nvPicPr>
          <p:cNvPr id="37" name="Picture 36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02352"/>
            <a:ext cx="164592" cy="16459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560" y="5084064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Leave Variance Management</a:t>
            </a:r>
          </a:p>
        </p:txBody>
      </p:sp>
      <p:pic>
        <p:nvPicPr>
          <p:cNvPr id="39" name="Picture 38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358384"/>
            <a:ext cx="164592" cy="16459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51560" y="5340096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Time Writing Discipline</a:t>
            </a:r>
          </a:p>
        </p:txBody>
      </p:sp>
      <p:pic>
        <p:nvPicPr>
          <p:cNvPr id="41" name="Picture 40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614416"/>
            <a:ext cx="164592" cy="16459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51560" y="5596128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Phishing Awareness Training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89120" y="3611880"/>
            <a:ext cx="3429000" cy="2331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89120" y="3611880"/>
            <a:ext cx="731520" cy="36576"/>
          </a:xfrm>
          <a:prstGeom prst="rect">
            <a:avLst/>
          </a:prstGeom>
          <a:solidFill>
            <a:srgbClr val="9E8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72000" y="3794760"/>
            <a:ext cx="594360" cy="594360"/>
          </a:xfrm>
          <a:prstGeom prst="ellipse">
            <a:avLst/>
          </a:prstGeom>
          <a:solidFill>
            <a:srgbClr val="FEF8E7"/>
          </a:solidFill>
          <a:ln w="12700">
            <a:solidFill>
              <a:srgbClr val="9E8D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q_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3931920"/>
            <a:ext cx="320040" cy="3200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303520" y="3867912"/>
            <a:ext cx="201168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E8D75"/>
                </a:solidFill>
                <a:latin typeface="Segoe UI Semibold"/>
              </a:defRPr>
            </a:pPr>
            <a:r>
              <a:t>CONTINUOUS</a:t>
            </a:r>
            <a:br/>
            <a:r>
              <a:t>IMPROVEMENT</a:t>
            </a:r>
          </a:p>
        </p:txBody>
      </p:sp>
      <p:sp>
        <p:nvSpPr>
          <p:cNvPr id="48" name="Oval 47"/>
          <p:cNvSpPr/>
          <p:nvPr/>
        </p:nvSpPr>
        <p:spPr>
          <a:xfrm>
            <a:off x="452628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154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87680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5206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2732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40258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57784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75310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2836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0362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7888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5414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2940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0466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7992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5518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33044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505700" y="4480560"/>
            <a:ext cx="36576" cy="36576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0" y="4709160"/>
            <a:ext cx="306324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9E8D75"/>
                </a:solidFill>
                <a:latin typeface="Segoe UI Semibold"/>
              </a:defRPr>
            </a:pPr>
            <a:r>
              <a:t>FIT 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166360"/>
            <a:ext cx="30632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Initiative is currently active.</a:t>
            </a:r>
            <a:br/>
            <a:r>
              <a:t>Align processes to FIT 4</a:t>
            </a:r>
            <a:br/>
            <a:r>
              <a:t>standards.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38160" y="3611880"/>
            <a:ext cx="3429000" cy="2331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138160" y="3611880"/>
            <a:ext cx="731520" cy="36576"/>
          </a:xfrm>
          <a:prstGeom prst="rect">
            <a:avLst/>
          </a:prstGeom>
          <a:solidFill>
            <a:srgbClr val="4C8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21040" y="3794760"/>
            <a:ext cx="594360" cy="594360"/>
          </a:xfrm>
          <a:prstGeom prst="ellipse">
            <a:avLst/>
          </a:prstGeom>
          <a:solidFill>
            <a:srgbClr val="EAF3EC"/>
          </a:solidFill>
          <a:ln w="12700">
            <a:solidFill>
              <a:srgbClr val="4C8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q_bad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8200" y="3931920"/>
            <a:ext cx="320040" cy="32004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052560" y="3867912"/>
            <a:ext cx="201168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8A5C"/>
                </a:solidFill>
                <a:latin typeface="Segoe UI Semibold"/>
              </a:defRPr>
            </a:pPr>
            <a:r>
              <a:t>UPSKILLING &amp;</a:t>
            </a:r>
            <a:br/>
            <a:r>
              <a:t>CERTIFICATIONS</a:t>
            </a:r>
          </a:p>
        </p:txBody>
      </p:sp>
      <p:pic>
        <p:nvPicPr>
          <p:cNvPr id="73" name="Picture 72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4590288"/>
            <a:ext cx="164592" cy="16459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549640" y="4572000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Certifications (GPA / IDP Aligned)</a:t>
            </a:r>
          </a:p>
        </p:txBody>
      </p:sp>
      <p:pic>
        <p:nvPicPr>
          <p:cNvPr id="75" name="Picture 74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4937760"/>
            <a:ext cx="164592" cy="16459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549640" y="4919472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AI Multiskilling (Batch-2) Started</a:t>
            </a:r>
          </a:p>
        </p:txBody>
      </p:sp>
      <p:pic>
        <p:nvPicPr>
          <p:cNvPr id="77" name="Picture 76" descr="hq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5285232"/>
            <a:ext cx="164592" cy="16459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549640" y="5266944"/>
            <a:ext cx="31089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Segoe UI"/>
              </a:defRPr>
            </a:pPr>
            <a:r>
              <a:t>ISC2 Security Cert (2026 — Paid)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40080" y="6172200"/>
            <a:ext cx="1083564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13232" y="6236208"/>
            <a:ext cx="365760" cy="365760"/>
          </a:xfrm>
          <a:prstGeom prst="ellipse">
            <a:avLst/>
          </a:prstGeom>
          <a:solidFill>
            <a:srgbClr val="EDF2F7"/>
          </a:solidFill>
          <a:ln w="12700">
            <a:solidFill>
              <a:srgbClr val="4A6C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hq_targ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8" y="6318504"/>
            <a:ext cx="201168" cy="201168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1188720" y="6263640"/>
            <a:ext cx="9144" cy="3200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25880" y="6245352"/>
            <a:ext cx="59436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4A4A4A"/>
                </a:solidFill>
                <a:latin typeface="Segoe UI"/>
              </a:defRPr>
            </a:pPr>
            <a:r>
              <a:t>Focused execution across people, process, and security to drive</a:t>
            </a:r>
            <a:br/>
            <a:r>
              <a:t>excellence and readiness for what's next.</a:t>
            </a:r>
          </a:p>
        </p:txBody>
      </p:sp>
      <p:sp>
        <p:nvSpPr>
          <p:cNvPr id="84" name="Oval 83"/>
          <p:cNvSpPr/>
          <p:nvPr/>
        </p:nvSpPr>
        <p:spPr>
          <a:xfrm>
            <a:off x="8092440" y="6263640"/>
            <a:ext cx="320040" cy="32004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hq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6327648"/>
            <a:ext cx="182880" cy="182880"/>
          </a:xfrm>
          <a:prstGeom prst="rect">
            <a:avLst/>
          </a:prstGeom>
        </p:spPr>
      </p:pic>
      <p:sp>
        <p:nvSpPr>
          <p:cNvPr id="86" name="Oval 85"/>
          <p:cNvSpPr/>
          <p:nvPr/>
        </p:nvSpPr>
        <p:spPr>
          <a:xfrm>
            <a:off x="8823960" y="6263640"/>
            <a:ext cx="320040" cy="320040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hq_cl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6327648"/>
            <a:ext cx="182880" cy="182880"/>
          </a:xfrm>
          <a:prstGeom prst="rect">
            <a:avLst/>
          </a:prstGeom>
        </p:spPr>
      </p:pic>
      <p:sp>
        <p:nvSpPr>
          <p:cNvPr id="88" name="Oval 87"/>
          <p:cNvSpPr/>
          <p:nvPr/>
        </p:nvSpPr>
        <p:spPr>
          <a:xfrm>
            <a:off x="9555480" y="6263640"/>
            <a:ext cx="320040" cy="320040"/>
          </a:xfrm>
          <a:prstGeom prst="ellipse">
            <a:avLst/>
          </a:prstGeom>
          <a:solidFill>
            <a:srgbClr val="F9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hq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9488" y="6327648"/>
            <a:ext cx="182880" cy="182880"/>
          </a:xfrm>
          <a:prstGeom prst="rect">
            <a:avLst/>
          </a:prstGeom>
        </p:spPr>
      </p:pic>
      <p:sp>
        <p:nvSpPr>
          <p:cNvPr id="90" name="Oval 89"/>
          <p:cNvSpPr/>
          <p:nvPr/>
        </p:nvSpPr>
        <p:spPr>
          <a:xfrm>
            <a:off x="10287000" y="6263640"/>
            <a:ext cx="320040" cy="320040"/>
          </a:xfrm>
          <a:prstGeom prst="ellipse">
            <a:avLst/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hq_bad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1008" y="6327648"/>
            <a:ext cx="182880" cy="182880"/>
          </a:xfrm>
          <a:prstGeom prst="rect">
            <a:avLst/>
          </a:prstGeom>
        </p:spPr>
      </p:pic>
      <p:sp>
        <p:nvSpPr>
          <p:cNvPr id="92" name="Oval 91"/>
          <p:cNvSpPr/>
          <p:nvPr/>
        </p:nvSpPr>
        <p:spPr>
          <a:xfrm>
            <a:off x="8412480" y="6400800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595360" y="6373368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778240" y="6400800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144000" y="6400800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326880" y="6373368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509760" y="6400800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875519" y="6400800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058400" y="6373368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241280" y="6400800"/>
            <a:ext cx="22860" cy="2286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FBCE07"/>
              </a:gs>
              <a:gs pos="100000">
                <a:srgbClr val="E0B30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00" cy="1143000"/>
          </a:xfrm>
          <a:prstGeom prst="rect">
            <a:avLst/>
          </a:prstGeom>
          <a:solidFill>
            <a:srgbClr val="FFE866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28600"/>
            <a:ext cx="502920" cy="502920"/>
          </a:xfrm>
          <a:prstGeom prst="ellipse">
            <a:avLst/>
          </a:prstGeom>
          <a:solidFill>
            <a:srgbClr val="E0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0352" y="301752"/>
            <a:ext cx="356616" cy="356616"/>
          </a:xfrm>
          <a:prstGeom prst="ellipse">
            <a:avLst/>
          </a:prstGeom>
          <a:solidFill>
            <a:srgbClr val="D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"/>
            <a:ext cx="9144000" cy="6858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22222"/>
                </a:solidFill>
                <a:latin typeface="Segoe UI Semibold"/>
              </a:defRPr>
            </a:pPr>
            <a:r>
              <a:t>LT Updates (Option 2: Featured Layout)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C8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0" y="777240"/>
            <a:ext cx="2286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888888"/>
                </a:solidFill>
                <a:latin typeface="Segoe UI Semibold"/>
              </a:defRPr>
            </a:pPr>
            <a:r>
              <a:t>INTERNAL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645920"/>
            <a:ext cx="5029200" cy="73152"/>
          </a:xfrm>
          <a:prstGeom prst="rect">
            <a:avLst/>
          </a:prstGeom>
          <a:solidFill>
            <a:srgbClr val="AF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20240"/>
            <a:ext cx="4572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F6E6A"/>
                </a:solidFill>
                <a:latin typeface="Segoe UI Semibold"/>
              </a:defRPr>
            </a:pPr>
            <a:r>
              <a:t>SECURITY &amp; CONTINUOUS IMPROVEMENT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4572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Segoe UI"/>
              </a:defRPr>
            </a:pPr>
            <a:r>
              <a:t>100% Repo Attestation 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572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7 Applications | 17 Repos secured across all clusters.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4572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2222"/>
                </a:solidFill>
                <a:latin typeface="Segoe UI"/>
              </a:defRPr>
            </a:pPr>
            <a:r>
              <a:t>FIT 4 Initiative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4572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Currently active. Ensure all team processes align with standards.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645920"/>
            <a:ext cx="55778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645920"/>
            <a:ext cx="73152" cy="1280160"/>
          </a:xfrm>
          <a:prstGeom prst="rect">
            <a:avLst/>
          </a:prstGeom>
          <a:solidFill>
            <a:srgbClr val="4A6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512064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6C98"/>
                </a:solidFill>
                <a:latin typeface="Segoe UI Semibold"/>
              </a:defRPr>
            </a:pPr>
            <a:r>
              <a:t>DRM TEAM OUTING &amp; AHM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194560"/>
            <a:ext cx="512064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Planned for 26th June. Inform stakeholders upfront to ensure coverage.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3200400"/>
            <a:ext cx="55778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0" y="3200400"/>
            <a:ext cx="73152" cy="1280160"/>
          </a:xfrm>
          <a:prstGeom prst="rect">
            <a:avLst/>
          </a:prstGeom>
          <a:solidFill>
            <a:srgbClr val="3B8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83280"/>
            <a:ext cx="512064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76"/>
                </a:solidFill>
                <a:latin typeface="Segoe UI Semibold"/>
              </a:defRPr>
            </a:pPr>
            <a:r>
              <a:t>OPERATIONAL 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749040"/>
            <a:ext cx="512064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Focus on: SEMS, Green Software, Leave Variance, Time Writing, Phishing.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4754880"/>
            <a:ext cx="55778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4754880"/>
            <a:ext cx="73152" cy="1280160"/>
          </a:xfrm>
          <a:prstGeom prst="rect">
            <a:avLst/>
          </a:prstGeom>
          <a:solidFill>
            <a:srgbClr val="4C8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937760"/>
            <a:ext cx="512064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C8A5C"/>
                </a:solidFill>
                <a:latin typeface="Segoe UI Semibold"/>
              </a:defRPr>
            </a:pPr>
            <a:r>
              <a:t>UPSKILLING &amp; CERTIFICATIONS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303520"/>
            <a:ext cx="512064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AI Multiskilling (Batch-2) Started. ISC2 Security Cert (2026 - Paid).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FBCE07"/>
              </a:gs>
              <a:gs pos="100000">
                <a:srgbClr val="E0B30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00" cy="1143000"/>
          </a:xfrm>
          <a:prstGeom prst="rect">
            <a:avLst/>
          </a:prstGeom>
          <a:solidFill>
            <a:srgbClr val="FFE866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28600"/>
            <a:ext cx="502920" cy="502920"/>
          </a:xfrm>
          <a:prstGeom prst="ellipse">
            <a:avLst/>
          </a:prstGeom>
          <a:solidFill>
            <a:srgbClr val="E0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0352" y="301752"/>
            <a:ext cx="356616" cy="356616"/>
          </a:xfrm>
          <a:prstGeom prst="ellipse">
            <a:avLst/>
          </a:prstGeom>
          <a:solidFill>
            <a:srgbClr val="D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6032"/>
            <a:ext cx="9144000" cy="6858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22222"/>
                </a:solidFill>
                <a:latin typeface="Segoe UI Semibold"/>
              </a:defRPr>
            </a:pPr>
            <a:r>
              <a:t>LT Updates (Option 3: Quadrants)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C8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0" y="777240"/>
            <a:ext cx="2286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888888"/>
                </a:solidFill>
                <a:latin typeface="Segoe UI Semibold"/>
              </a:defRPr>
            </a:pPr>
            <a:r>
              <a:t>INTERNAL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30352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A6C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103120"/>
            <a:ext cx="91440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2F2F2"/>
                </a:solidFill>
                <a:latin typeface="Segoe UI Semibold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6C98"/>
                </a:solidFill>
                <a:latin typeface="Segoe UI Semibold"/>
              </a:defRPr>
            </a:pPr>
            <a:r>
              <a:t>TEAM OUTING &amp; AHM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77440"/>
            <a:ext cx="438912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26th June</a:t>
            </a:r>
            <a:br/>
            <a:r>
              <a:t>Inform stakeholders upfront.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30352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F6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0" y="2103120"/>
            <a:ext cx="91440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2F2F2"/>
                </a:solidFill>
                <a:latin typeface="Segoe UI Semibold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20240"/>
            <a:ext cx="475488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F6E6A"/>
                </a:solidFill>
                <a:latin typeface="Segoe UI Semibold"/>
              </a:defRPr>
            </a:pPr>
            <a:r>
              <a:t>SECURITY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438912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100% Repo Attestation (7 Apps, 17 Repos)</a:t>
            </a:r>
            <a:br/>
            <a:r>
              <a:t>Focus on SEMS &amp; Phishing Awareness.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530352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9E8D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91440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2F2F2"/>
                </a:solidFill>
                <a:latin typeface="Segoe UI Semibold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06240"/>
            <a:ext cx="475488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E8D75"/>
                </a:solidFill>
                <a:latin typeface="Segoe UI Semibold"/>
              </a:defRPr>
            </a:pPr>
            <a:r>
              <a:t>CONTINUOUS IMPROVEMENT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438912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FIT 4 Initiative Active</a:t>
            </a:r>
            <a:br/>
            <a:r>
              <a:t>Align processes to standards.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931920"/>
            <a:ext cx="530352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4C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20" y="4389120"/>
            <a:ext cx="91440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2F2F2"/>
                </a:solidFill>
                <a:latin typeface="Segoe UI Semibold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206240"/>
            <a:ext cx="475488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8A5C"/>
                </a:solidFill>
                <a:latin typeface="Segoe UI Semibold"/>
              </a:defRPr>
            </a:pPr>
            <a:r>
              <a:t>UPSKILLING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63440"/>
            <a:ext cx="438912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4A"/>
                </a:solidFill>
                <a:latin typeface="Segoe UI"/>
              </a:defRPr>
            </a:pPr>
            <a:r>
              <a:t>AI Multiskilling (Batch-2)</a:t>
            </a:r>
            <a:br/>
            <a:r>
              <a:t>ISC2 Security Cert (2026 Paid)</a:t>
            </a:r>
            <a:br/>
            <a:r>
              <a:t>GPA / IDP Aligned.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74320"/>
            <a:ext cx="822960" cy="822960"/>
          </a:xfrm>
          <a:prstGeom prst="ellipse">
            <a:avLst/>
          </a:prstGeom>
          <a:solidFill>
            <a:srgbClr val="FE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yoga_lo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320040"/>
            <a:ext cx="45720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Segoe UI Semibold"/>
              </a:defRPr>
            </a:pPr>
            <a:r>
              <a:t>Why Yoga for IT Teams?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554480" y="822960"/>
            <a:ext cx="1371600" cy="4572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oga_l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82880"/>
            <a:ext cx="320040" cy="320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18872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rgbClr val="F9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q_yoga_cha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25880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1325880"/>
            <a:ext cx="13716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F6E6A"/>
                </a:solidFill>
                <a:latin typeface="Segoe UI Semibold"/>
              </a:defRPr>
            </a:pPr>
            <a:r>
              <a:t>Long sitting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280160"/>
            <a:ext cx="13716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325880"/>
            <a:ext cx="27432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Segoe UI"/>
              </a:defRPr>
            </a:pPr>
            <a:r>
              <a:t>Back &amp; neck pain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2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q_yoga_moni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4440" y="2011680"/>
            <a:ext cx="13716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6C98"/>
                </a:solidFill>
                <a:latin typeface="Segoe UI Semibold"/>
              </a:defRPr>
            </a:pPr>
            <a:r>
              <a:t>Screen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1965960"/>
            <a:ext cx="13716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011680"/>
            <a:ext cx="27432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Segoe UI"/>
              </a:defRPr>
            </a:pPr>
            <a:r>
              <a:t>Eye strain &amp; fatigue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6032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FEF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q_yoga_str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697480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34440" y="2697480"/>
            <a:ext cx="13716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58D1A"/>
                </a:solidFill>
                <a:latin typeface="Segoe UI Semibold"/>
              </a:defRPr>
            </a:pPr>
            <a:r>
              <a:t>Work pressure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40" y="2651760"/>
            <a:ext cx="13716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2697480"/>
            <a:ext cx="27432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Segoe UI"/>
              </a:defRPr>
            </a:pPr>
            <a:r>
              <a:t>Stress &amp; low focus</a:t>
            </a:r>
          </a:p>
        </p:txBody>
      </p:sp>
      <p:pic>
        <p:nvPicPr>
          <p:cNvPr id="25" name="Picture 24" descr="yoga_l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920240"/>
            <a:ext cx="228600" cy="2286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324612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q_yoga_po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337560"/>
            <a:ext cx="365760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34440" y="3383280"/>
            <a:ext cx="109728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8A5C"/>
                </a:solidFill>
                <a:latin typeface="Segoe UI Semibold"/>
              </a:defRPr>
            </a:pPr>
            <a:r>
              <a:t>Solution: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383280"/>
            <a:ext cx="320040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Segoe UI"/>
              </a:defRPr>
            </a:pPr>
            <a:r>
              <a:t>Simple 5-min yoga at your desk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840480"/>
            <a:ext cx="27432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2222"/>
                </a:solidFill>
                <a:latin typeface="Segoe UI Semibold"/>
              </a:defRPr>
            </a:pPr>
            <a:r>
              <a:t>SESSION BREAKDOWN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14800"/>
            <a:ext cx="1371600" cy="36576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0080" y="4453128"/>
            <a:ext cx="109728" cy="10972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0372" y="4572000"/>
            <a:ext cx="9144" cy="3200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yoga_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434840"/>
            <a:ext cx="182880" cy="182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234440" y="4389120"/>
            <a:ext cx="640080" cy="27432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A4A4A"/>
                </a:solidFill>
                <a:latin typeface="Segoe UI Semibold"/>
              </a:defRPr>
            </a:pPr>
            <a:r>
              <a:t>1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4407408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222222"/>
                </a:solidFill>
                <a:latin typeface="Segoe UI Semibold"/>
              </a:defRPr>
            </a:pPr>
            <a:r>
              <a:t>Why Yoga Matters</a:t>
            </a:r>
          </a:p>
        </p:txBody>
      </p:sp>
      <p:sp>
        <p:nvSpPr>
          <p:cNvPr id="39" name="Oval 38"/>
          <p:cNvSpPr/>
          <p:nvPr/>
        </p:nvSpPr>
        <p:spPr>
          <a:xfrm>
            <a:off x="640080" y="4910328"/>
            <a:ext cx="109728" cy="10972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0372" y="5029200"/>
            <a:ext cx="9144" cy="3200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68680" y="4846320"/>
            <a:ext cx="274320" cy="27432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yoga_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892040"/>
            <a:ext cx="182880" cy="18288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1234440" y="4846320"/>
            <a:ext cx="640080" cy="27432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A4A4A"/>
                </a:solidFill>
                <a:latin typeface="Segoe UI Semibold"/>
              </a:defRPr>
            </a:pPr>
            <a:r>
              <a:t>3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4864608"/>
            <a:ext cx="128016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222222"/>
                </a:solidFill>
                <a:latin typeface="Segoe UI Semibold"/>
              </a:defRPr>
            </a:pPr>
            <a:r>
              <a:t>Demo 2–3 Poses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4864608"/>
            <a:ext cx="22860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4A4A"/>
                </a:solidFill>
                <a:latin typeface="Segoe UI"/>
              </a:defRPr>
            </a:pPr>
            <a:r>
              <a:t> (Neck + Breathing + Stretch)</a:t>
            </a:r>
          </a:p>
        </p:txBody>
      </p:sp>
      <p:sp>
        <p:nvSpPr>
          <p:cNvPr id="46" name="Oval 45"/>
          <p:cNvSpPr/>
          <p:nvPr/>
        </p:nvSpPr>
        <p:spPr>
          <a:xfrm>
            <a:off x="640080" y="5367528"/>
            <a:ext cx="109728" cy="10972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68680" y="5303520"/>
            <a:ext cx="274320" cy="27432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yoga_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5349240"/>
            <a:ext cx="182880" cy="18288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234440" y="5303520"/>
            <a:ext cx="640080" cy="27432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A4A4A"/>
                </a:solidFill>
                <a:latin typeface="Segoe UI Semibold"/>
              </a:defRPr>
            </a:pPr>
            <a:r>
              <a:t>1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65960" y="5321808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222222"/>
                </a:solidFill>
                <a:latin typeface="Segoe UI Semibold"/>
              </a:defRPr>
            </a:pPr>
            <a:r>
              <a:t>Closing Quote &amp; Takeaway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0" y="274320"/>
            <a:ext cx="5760720" cy="51206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yoga_office_178128454622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200" y="411480"/>
            <a:ext cx="5486400" cy="4846320"/>
          </a:xfrm>
          <a:prstGeom prst="rect">
            <a:avLst/>
          </a:prstGeom>
        </p:spPr>
      </p:pic>
      <p:pic>
        <p:nvPicPr>
          <p:cNvPr id="53" name="Picture 52" descr="yoga_l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37160"/>
            <a:ext cx="274320" cy="274320"/>
          </a:xfrm>
          <a:prstGeom prst="rect">
            <a:avLst/>
          </a:prstGeom>
        </p:spPr>
      </p:pic>
      <p:pic>
        <p:nvPicPr>
          <p:cNvPr id="54" name="Picture 53" descr="yoga_l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2286000"/>
            <a:ext cx="274320" cy="274320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6035040" y="5577840"/>
            <a:ext cx="576072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172200" y="5669280"/>
            <a:ext cx="548640" cy="548640"/>
          </a:xfrm>
          <a:prstGeom prst="ellipse">
            <a:avLst/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q_yoga_lot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7920" y="5715000"/>
            <a:ext cx="457200" cy="4572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858000" y="5669280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Segoe UI"/>
              </a:defRPr>
            </a:pPr>
            <a:r>
              <a:t>A few mindful minutes today can lead 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5897880"/>
            <a:ext cx="3657600" cy="2743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8A5C"/>
                </a:solidFill>
                <a:latin typeface="Segoe UI Semibold"/>
              </a:defRPr>
            </a:pPr>
            <a:r>
              <a:t>better health, focus &amp; productivity.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789920" y="5715000"/>
            <a:ext cx="9144" cy="4572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hq_yoga_stret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18520" y="562356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