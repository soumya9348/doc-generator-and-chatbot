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Carbon</c:v>
                </c:pt>
              </c:strCache>
            </c:strRef>
          </c:tx>
          <c:spPr>
            <a:ln w="31750">
              <a:solidFill>
                <a:srgbClr val="A8D8B9"/>
              </a:solidFill>
            </a:ln>
          </c:spPr>
          <c:marker>
            <c:symbol val="circle"/>
            <c:size val="8"/>
            <c:spPr>
              <a:solidFill>
                <a:srgbClr val="F5C842"/>
              </a:solidFill>
            </c:spPr>
          </c:marker>
          <c:cat>
            <c:strRef>
              <c:f>Sheet1!$A$2:$A$6</c:f>
              <c:strCache>
                <c:ptCount val="5"/>
                <c:pt idx="0">
                  <c:v>Mo 1</c:v>
                </c:pt>
                <c:pt idx="1">
                  <c:v>Mo 2</c:v>
                </c:pt>
                <c:pt idx="2">
                  <c:v>Mo 6*</c:v>
                </c:pt>
                <c:pt idx="3">
                  <c:v>Mo 9*</c:v>
                </c:pt>
                <c:pt idx="4">
                  <c:v>Mo 12*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</c:v>
                </c:pt>
                <c:pt idx="1">
                  <c:v>2.55</c:v>
                </c:pt>
                <c:pt idx="2">
                  <c:v>7.65</c:v>
                </c:pt>
                <c:pt idx="3">
                  <c:v>11.48</c:v>
                </c:pt>
                <c:pt idx="4">
                  <c:v>15.3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2D4A3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4A9B6F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Cost</c:v>
                </c:pt>
              </c:strCache>
            </c:strRef>
          </c:tx>
          <c:spPr>
            <a:ln w="31750">
              <a:solidFill>
                <a:srgbClr val="A8D8B9"/>
              </a:solidFill>
            </a:ln>
          </c:spPr>
          <c:marker>
            <c:symbol val="circle"/>
            <c:size val="8"/>
            <c:spPr>
              <a:solidFill>
                <a:srgbClr val="F5C842"/>
              </a:solidFill>
            </c:spPr>
          </c:marker>
          <c:cat>
            <c:strRef>
              <c:f>Sheet1!$A$2:$A$6</c:f>
              <c:strCache>
                <c:ptCount val="5"/>
                <c:pt idx="0">
                  <c:v>Mo 1</c:v>
                </c:pt>
                <c:pt idx="1">
                  <c:v>Mo 2</c:v>
                </c:pt>
                <c:pt idx="2">
                  <c:v>Mo 6*</c:v>
                </c:pt>
                <c:pt idx="3">
                  <c:v>Mo 9*</c:v>
                </c:pt>
                <c:pt idx="4">
                  <c:v>Mo 12*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28160</c:v>
                </c:pt>
                <c:pt idx="1">
                  <c:v>64667</c:v>
                </c:pt>
                <c:pt idx="2">
                  <c:v>194000</c:v>
                </c:pt>
                <c:pt idx="3">
                  <c:v>291000</c:v>
                </c:pt>
                <c:pt idx="4">
                  <c:v>388000</c:v>
                </c:pt>
              </c:numCache>
            </c:numRef>
          </c:val>
          <c:smooth val="0"/>
        </c:ser>
        <c:dLbls>
          <c:numFmt formatCode="&quot;$&quot;#,##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2D4A3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4A9B6F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8.jpg"/><Relationship Id="rId6" Type="http://schemas.openxmlformats.org/officeDocument/2006/relationships/chart" Target="../charts/chart1.xml"/><Relationship Id="rId7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✓  EARTH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eMobility Mavericks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A8D8B9"/>
                </a:solidFill>
                <a:latin typeface="Calibri"/>
              </a:rPr>
              <a:t>Sustainable Optimization of our Data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286000" cy="18288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iginal_s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6576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011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9B6F"/>
                </a:solidFill>
                <a:latin typeface="Calibri"/>
              </a:rPr>
              <a:t>Driving carbon and cost reduction through 5 targeted sustainability initiatives:</a:t>
            </a:r>
          </a:p>
        </p:txBody>
      </p:sp>
      <p:pic>
        <p:nvPicPr>
          <p:cNvPr id="9" name="Picture 8" descr="original_s3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2316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Architecture</a:t>
            </a:r>
          </a:p>
        </p:txBody>
      </p:sp>
      <p:pic>
        <p:nvPicPr>
          <p:cNvPr id="11" name="Picture 10" descr="original_s3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2423160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0604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Data Mgmt</a:t>
            </a:r>
          </a:p>
        </p:txBody>
      </p:sp>
      <p:pic>
        <p:nvPicPr>
          <p:cNvPr id="13" name="Picture 12" descr="original_s3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423160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484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Algorithms</a:t>
            </a:r>
          </a:p>
        </p:txBody>
      </p:sp>
      <p:pic>
        <p:nvPicPr>
          <p:cNvPr id="15" name="Picture 14" descr="original_s3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2423160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Zero-Waste</a:t>
            </a:r>
          </a:p>
        </p:txBody>
      </p:sp>
      <p:pic>
        <p:nvPicPr>
          <p:cNvPr id="17" name="Picture 16" descr="original_s3_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2423160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244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Reporting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2926080"/>
            <a:ext cx="9144000" cy="18288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A9B6F"/>
                </a:solidFill>
                <a:latin typeface="Calibri"/>
              </a:rPr>
              <a:t>TEAM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474720"/>
            <a:ext cx="731520" cy="731520"/>
          </a:xfrm>
          <a:prstGeom prst="ellipse">
            <a:avLst/>
          </a:prstGeom>
          <a:solidFill>
            <a:srgbClr val="4A9B6F"/>
          </a:solidFill>
          <a:ln w="317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
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2976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Maninee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4622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9B6F"/>
                </a:solidFill>
                <a:latin typeface="Calibri"/>
              </a:rPr>
              <a:t>Sahu</a:t>
            </a:r>
          </a:p>
        </p:txBody>
      </p:sp>
      <p:sp>
        <p:nvSpPr>
          <p:cNvPr id="24" name="Oval 23"/>
          <p:cNvSpPr/>
          <p:nvPr/>
        </p:nvSpPr>
        <p:spPr>
          <a:xfrm>
            <a:off x="2377440" y="3474720"/>
            <a:ext cx="731520" cy="731520"/>
          </a:xfrm>
          <a:prstGeom prst="ellipse">
            <a:avLst/>
          </a:prstGeom>
          <a:solidFill>
            <a:srgbClr val="4A9B6F"/>
          </a:solidFill>
          <a:ln w="317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
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2976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Mahalakshmi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4622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9B6F"/>
                </a:solidFill>
                <a:latin typeface="Calibri"/>
              </a:rPr>
              <a:t>Murugan</a:t>
            </a:r>
          </a:p>
        </p:txBody>
      </p:sp>
      <p:sp>
        <p:nvSpPr>
          <p:cNvPr id="27" name="Oval 26"/>
          <p:cNvSpPr/>
          <p:nvPr/>
        </p:nvSpPr>
        <p:spPr>
          <a:xfrm>
            <a:off x="4206240" y="3474720"/>
            <a:ext cx="731520" cy="731520"/>
          </a:xfrm>
          <a:prstGeom prst="ellipse">
            <a:avLst/>
          </a:prstGeom>
          <a:solidFill>
            <a:srgbClr val="4A9B6F"/>
          </a:solidFill>
          <a:ln w="317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
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2976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Biki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4622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9B6F"/>
                </a:solidFill>
                <a:latin typeface="Calibri"/>
              </a:rPr>
              <a:t>Kumar</a:t>
            </a:r>
          </a:p>
        </p:txBody>
      </p:sp>
      <p:sp>
        <p:nvSpPr>
          <p:cNvPr id="30" name="Oval 29"/>
          <p:cNvSpPr/>
          <p:nvPr/>
        </p:nvSpPr>
        <p:spPr>
          <a:xfrm>
            <a:off x="6035040" y="3474720"/>
            <a:ext cx="731520" cy="731520"/>
          </a:xfrm>
          <a:prstGeom prst="ellipse">
            <a:avLst/>
          </a:prstGeom>
          <a:solidFill>
            <a:srgbClr val="4A9B6F"/>
          </a:solidFill>
          <a:ln w="317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
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976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Sandhya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4622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9B6F"/>
                </a:solidFill>
                <a:latin typeface="Calibri"/>
              </a:rPr>
              <a:t>Mallya</a:t>
            </a:r>
          </a:p>
        </p:txBody>
      </p:sp>
      <p:sp>
        <p:nvSpPr>
          <p:cNvPr id="33" name="Oval 32"/>
          <p:cNvSpPr/>
          <p:nvPr/>
        </p:nvSpPr>
        <p:spPr>
          <a:xfrm>
            <a:off x="7863840" y="3474720"/>
            <a:ext cx="731520" cy="731520"/>
          </a:xfrm>
          <a:prstGeom prst="ellipse">
            <a:avLst/>
          </a:prstGeom>
          <a:solidFill>
            <a:srgbClr val="4A9B6F"/>
          </a:solidFill>
          <a:ln w="317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
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2976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Soumya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4622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9B6F"/>
                </a:solidFill>
                <a:latin typeface="Calibri"/>
              </a:rPr>
              <a:t>Behera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Challenge &amp; Our 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3931920" cy="36576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5C38"/>
                </a:solidFill>
                <a:latin typeface="Calibri"/>
              </a:rPr>
              <a:t>Why It Matters</a:t>
            </a:r>
          </a:p>
        </p:txBody>
      </p:sp>
      <p:pic>
        <p:nvPicPr>
          <p:cNvPr id="7" name="Picture 6" descr="gen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148132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Data platforms are significant consumers of compute, storage, and energy.</a:t>
            </a:r>
          </a:p>
        </p:txBody>
      </p:sp>
      <p:pic>
        <p:nvPicPr>
          <p:cNvPr id="9" name="Picture 8" descr="ge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20299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Idle resources in non-production environments generate unnecessary emissions.</a:t>
            </a:r>
          </a:p>
        </p:txBody>
      </p:sp>
      <p:pic>
        <p:nvPicPr>
          <p:cNvPr id="11" name="Picture 10" descr="gen_clean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60320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257860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Duplicate and obsolete data increases storage costs and carbon footprint.</a:t>
            </a:r>
          </a:p>
        </p:txBody>
      </p:sp>
      <p:pic>
        <p:nvPicPr>
          <p:cNvPr id="13" name="Picture 12" descr="original_s3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08960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312724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Inefficient queries and heavy reporting cycles waste CPU cycles.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914400"/>
            <a:ext cx="4114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914400"/>
            <a:ext cx="4023360" cy="36576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riginal_s2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051560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03520" y="1078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5C38"/>
                </a:solidFill>
                <a:latin typeface="Calibri"/>
              </a:rPr>
              <a:t>Our 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463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4A38"/>
                </a:solidFill>
                <a:latin typeface="Calibri"/>
              </a:rPr>
              <a:t>eMobility Mavericks set out to systematically reduce the carbon and cost footprint of our data platform through five targeted sustainability initiatives.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1031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5C38"/>
                </a:solidFill>
                <a:latin typeface="Calibri"/>
              </a:rPr>
              <a:t>5 TARGETED INITIATIVES</a:t>
            </a:r>
          </a:p>
        </p:txBody>
      </p:sp>
      <p:pic>
        <p:nvPicPr>
          <p:cNvPr id="21" name="Picture 20" descr="original_s3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377440"/>
            <a:ext cx="201168" cy="20116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257800" y="2377440"/>
            <a:ext cx="3246120" cy="237744"/>
          </a:xfrm>
          <a:prstGeom prst="roundRect">
            <a:avLst/>
          </a:prstGeom>
          <a:solidFill>
            <a:srgbClr val="E8F2EC"/>
          </a:solidFill>
          <a:ln w="9525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5C38"/>
                </a:solidFill>
                <a:latin typeface="Calibri"/>
              </a:rPr>
              <a:t>Architecture</a:t>
            </a:r>
          </a:p>
        </p:txBody>
      </p:sp>
      <p:pic>
        <p:nvPicPr>
          <p:cNvPr id="23" name="Picture 22" descr="original_s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715768"/>
            <a:ext cx="201168" cy="20116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257800" y="2715768"/>
            <a:ext cx="3246120" cy="237744"/>
          </a:xfrm>
          <a:prstGeom prst="roundRect">
            <a:avLst/>
          </a:prstGeom>
          <a:solidFill>
            <a:srgbClr val="E8F2EC"/>
          </a:solidFill>
          <a:ln w="9525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5C38"/>
                </a:solidFill>
                <a:latin typeface="Calibri"/>
              </a:rPr>
              <a:t>Data Mgmt</a:t>
            </a:r>
          </a:p>
        </p:txBody>
      </p:sp>
      <p:pic>
        <p:nvPicPr>
          <p:cNvPr id="25" name="Picture 24" descr="original_s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054096"/>
            <a:ext cx="201168" cy="20116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257800" y="3054096"/>
            <a:ext cx="3246120" cy="237744"/>
          </a:xfrm>
          <a:prstGeom prst="roundRect">
            <a:avLst/>
          </a:prstGeom>
          <a:solidFill>
            <a:srgbClr val="E8F2EC"/>
          </a:solidFill>
          <a:ln w="9525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5C38"/>
                </a:solidFill>
                <a:latin typeface="Calibri"/>
              </a:rPr>
              <a:t>Algorithms</a:t>
            </a:r>
          </a:p>
        </p:txBody>
      </p:sp>
      <p:pic>
        <p:nvPicPr>
          <p:cNvPr id="27" name="Picture 26" descr="original_s3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392424"/>
            <a:ext cx="201168" cy="20116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257800" y="3392424"/>
            <a:ext cx="3246120" cy="237744"/>
          </a:xfrm>
          <a:prstGeom prst="roundRect">
            <a:avLst/>
          </a:prstGeom>
          <a:solidFill>
            <a:srgbClr val="E8F2EC"/>
          </a:solidFill>
          <a:ln w="9525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5C38"/>
                </a:solidFill>
                <a:latin typeface="Calibri"/>
              </a:rPr>
              <a:t>Zero-Waste Env</a:t>
            </a:r>
          </a:p>
        </p:txBody>
      </p:sp>
      <p:pic>
        <p:nvPicPr>
          <p:cNvPr id="29" name="Picture 28" descr="original_s3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730752"/>
            <a:ext cx="201168" cy="20116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257800" y="3730752"/>
            <a:ext cx="3246120" cy="237744"/>
          </a:xfrm>
          <a:prstGeom prst="roundRect">
            <a:avLst/>
          </a:prstGeom>
          <a:solidFill>
            <a:srgbClr val="E8F2EC"/>
          </a:solidFill>
          <a:ln w="9525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5C38"/>
                </a:solidFill>
                <a:latin typeface="Calibri"/>
              </a:rPr>
              <a:t>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Architectural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A8D8B9"/>
                </a:solidFill>
                <a:latin typeface="Calibri"/>
              </a:rPr>
              <a:t>Async processing &amp; multithreading for maximum CPU utilization</a:t>
            </a:r>
          </a:p>
        </p:txBody>
      </p:sp>
      <p:sp>
        <p:nvSpPr>
          <p:cNvPr id="5" name="Oval 4"/>
          <p:cNvSpPr/>
          <p:nvPr/>
        </p:nvSpPr>
        <p:spPr>
          <a:xfrm>
            <a:off x="8412480" y="182880"/>
            <a:ext cx="320040" cy="320040"/>
          </a:xfrm>
          <a:prstGeom prst="ellipse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3931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iginal_s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87552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4A38"/>
                </a:solidFill>
                <a:latin typeface="Calibri"/>
              </a:rPr>
              <a:t>Asynchronous processing and multithreading replace blocking operations, maximising CPU utilisation and dramatically speeding data pipelines.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Non-blocking I/O eliminates idle CPU wait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19072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Parallel thread execution for concurrent data 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2938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29384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Pipeline throughput increased with same compute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3969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139696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Fewer billable compute hours overall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914400"/>
            <a:ext cx="4206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9875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TRANSFORMATION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280160"/>
            <a:ext cx="1051560" cy="365760"/>
          </a:xfrm>
          <a:prstGeom prst="roundRect">
            <a:avLst/>
          </a:prstGeom>
          <a:solidFill>
            <a:srgbClr val="E8F2EC"/>
          </a:solidFill>
          <a:ln w="19050">
            <a:solidFill>
              <a:srgbClr val="C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05050"/>
                </a:solidFill>
                <a:latin typeface="Calibri"/>
              </a:rPr>
              <a:t>Blocking
Ops</a:t>
            </a:r>
          </a:p>
        </p:txBody>
      </p:sp>
      <p:sp>
        <p:nvSpPr>
          <p:cNvPr id="20" name="Notched Right Arrow 19"/>
          <p:cNvSpPr/>
          <p:nvPr/>
        </p:nvSpPr>
        <p:spPr>
          <a:xfrm>
            <a:off x="5852160" y="1371600"/>
            <a:ext cx="274320" cy="182880"/>
          </a:xfrm>
          <a:prstGeom prst="notchedRightArrow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1051560" cy="365760"/>
          </a:xfrm>
          <a:prstGeom prst="roundRect">
            <a:avLst/>
          </a:prstGeom>
          <a:solidFill>
            <a:srgbClr val="E8F2EC"/>
          </a:solidFill>
          <a:ln w="1905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5C38"/>
                </a:solidFill>
                <a:latin typeface="Calibri"/>
              </a:rPr>
              <a:t>Async
Processing</a:t>
            </a:r>
          </a:p>
        </p:txBody>
      </p:sp>
      <p:sp>
        <p:nvSpPr>
          <p:cNvPr id="22" name="Notched Right Arrow 21"/>
          <p:cNvSpPr/>
          <p:nvPr/>
        </p:nvSpPr>
        <p:spPr>
          <a:xfrm>
            <a:off x="7360920" y="1371600"/>
            <a:ext cx="274320" cy="182880"/>
          </a:xfrm>
          <a:prstGeom prst="notchedRightArrow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26679" y="1280160"/>
            <a:ext cx="914400" cy="365760"/>
          </a:xfrm>
          <a:prstGeom prst="roundRect">
            <a:avLst/>
          </a:prstGeom>
          <a:solidFill>
            <a:srgbClr val="E8F2EC"/>
          </a:solidFill>
          <a:ln w="19050">
            <a:solidFill>
              <a:srgbClr val="1A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5C38"/>
                </a:solidFill>
                <a:latin typeface="Calibri"/>
              </a:rPr>
              <a:t>Multi-
thread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1874519"/>
            <a:ext cx="3931920" cy="411480"/>
          </a:xfrm>
          <a:prstGeom prst="round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Maximum CPU Utilization  •  Faster Pipelines  •  Lower Cost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8412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7249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CPU UTILIZATION — BEFORE vs 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01752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05050"/>
                </a:solidFill>
                <a:latin typeface="Calibri"/>
              </a:rPr>
              <a:t>BEFORE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461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Thread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3255264"/>
            <a:ext cx="3017520" cy="118872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3255264"/>
            <a:ext cx="905255" cy="11887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Thread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3438144"/>
            <a:ext cx="3017520" cy="118872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000" y="3438144"/>
            <a:ext cx="452627" cy="11887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61188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Thread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3621024"/>
            <a:ext cx="3017520" cy="118872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3621024"/>
            <a:ext cx="663854" cy="11887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79476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Thread 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3803904"/>
            <a:ext cx="3017520" cy="118872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3000" y="3803904"/>
            <a:ext cx="362102" cy="11887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402336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C05050"/>
                </a:solidFill>
                <a:latin typeface="Calibri"/>
              </a:rPr>
              <a:t>~20% avg utilization — idle waits dominate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01752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AFTER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2461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Thread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49240" y="3255264"/>
            <a:ext cx="3017520" cy="118872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49240" y="3255264"/>
            <a:ext cx="2655417" cy="118872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342900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Thread 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49240" y="3438144"/>
            <a:ext cx="3017520" cy="118872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49240" y="3438144"/>
            <a:ext cx="2776118" cy="118872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61188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Thread 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49240" y="3621024"/>
            <a:ext cx="3017520" cy="118872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49240" y="3621024"/>
            <a:ext cx="2534716" cy="118872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379476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Thread 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49240" y="3803904"/>
            <a:ext cx="3017520" cy="118872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49240" y="3803904"/>
            <a:ext cx="2715768" cy="118872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49240" y="402336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A5C38"/>
                </a:solidFill>
                <a:latin typeface="Calibri"/>
              </a:rPr>
              <a:t>~88% avg utilization — async + multithreaded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74720" y="4160520"/>
            <a:ext cx="2194560" cy="320040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D2B1A"/>
                </a:solidFill>
                <a:latin typeface="Calibri"/>
              </a:rPr>
              <a:t>~4× CPU Utilization Improvement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Sustainable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A8D8B9"/>
                </a:solidFill>
                <a:latin typeface="Calibri"/>
              </a:rPr>
              <a:t>Delete the waste, keep the value</a:t>
            </a:r>
          </a:p>
        </p:txBody>
      </p:sp>
      <p:sp>
        <p:nvSpPr>
          <p:cNvPr id="5" name="Oval 4"/>
          <p:cNvSpPr/>
          <p:nvPr/>
        </p:nvSpPr>
        <p:spPr>
          <a:xfrm>
            <a:off x="8412480" y="182880"/>
            <a:ext cx="320040" cy="320040"/>
          </a:xfrm>
          <a:prstGeom prst="ellipse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39319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iginal_s3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87552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4A38"/>
                </a:solidFill>
                <a:latin typeface="Calibri"/>
              </a:rPr>
              <a:t>Deleting obsolete and duplicate data reduces storage needs, cuts cloud emissions, and improves query performance across the 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Identified and purged duplicate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7335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2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Archived obsolete records no longer in active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8366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83664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Reduced cloud storage footprint &amp; emissions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09397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093976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Faster query execution with leaner data volumes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042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04288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Ongoing data hygiene governance established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914400"/>
            <a:ext cx="4206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9875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DATA VOLUME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23444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05050"/>
                </a:solidFill>
                <a:latin typeface="Calibri"/>
              </a:rPr>
              <a:t>BEFORE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1444752"/>
            <a:ext cx="1371600" cy="173736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444752"/>
            <a:ext cx="12801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Active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655064"/>
            <a:ext cx="1371600" cy="173736"/>
          </a:xfrm>
          <a:prstGeom prst="rect">
            <a:avLst/>
          </a:prstGeom>
          <a:solidFill>
            <a:srgbClr val="CC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655064"/>
            <a:ext cx="12801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Stale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865376"/>
            <a:ext cx="1371600" cy="173736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865376"/>
            <a:ext cx="12801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Duplicates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075688"/>
            <a:ext cx="1371600" cy="173736"/>
          </a:xfrm>
          <a:prstGeom prst="rect">
            <a:avLst/>
          </a:prstGeom>
          <a:solidFill>
            <a:srgbClr val="AA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2075688"/>
            <a:ext cx="12801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Obsolete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286000"/>
            <a:ext cx="1371600" cy="173736"/>
          </a:xfrm>
          <a:prstGeom prst="rect">
            <a:avLst/>
          </a:prstGeom>
          <a:solidFill>
            <a:srgbClr val="99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2286000"/>
            <a:ext cx="12801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Temp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C842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23444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AFTER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1444752"/>
            <a:ext cx="1371600" cy="173736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1444752"/>
            <a:ext cx="12801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Active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1655064"/>
            <a:ext cx="1371600" cy="173736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1655064"/>
            <a:ext cx="12801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Optimized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2011680"/>
            <a:ext cx="1371600" cy="411480"/>
          </a:xfrm>
          <a:prstGeom prst="round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~40%
Reduction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2834640"/>
            <a:ext cx="8412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29077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DATA HYGIENE IMPACT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3200400"/>
            <a:ext cx="1892807" cy="1051560"/>
          </a:xfrm>
          <a:prstGeom prst="roundRect">
            <a:avLst/>
          </a:prstGeom>
          <a:solidFill>
            <a:srgbClr val="E8F2EC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gen_clea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73552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94360" y="3584448"/>
            <a:ext cx="1709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5C38"/>
                </a:solidFill>
                <a:latin typeface="Calibri"/>
              </a:rPr>
              <a:t>Storage 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3840480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Reduced cloud
storage footprint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78608" y="3200400"/>
            <a:ext cx="1892807" cy="1051560"/>
          </a:xfrm>
          <a:prstGeom prst="roundRect">
            <a:avLst/>
          </a:prstGeom>
          <a:solidFill>
            <a:srgbClr val="E8F2EC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original_s2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273552"/>
            <a:ext cx="256032" cy="25603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670048" y="3584448"/>
            <a:ext cx="1709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5C38"/>
                </a:solidFill>
                <a:latin typeface="Calibri"/>
              </a:rPr>
              <a:t>Emissions 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0048" y="3840480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Lower carbon from
reduced data hosting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54296" y="3200400"/>
            <a:ext cx="1892807" cy="1051560"/>
          </a:xfrm>
          <a:prstGeom prst="roundRect">
            <a:avLst/>
          </a:prstGeom>
          <a:solidFill>
            <a:srgbClr val="E8F2EC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gen_sp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3273552"/>
            <a:ext cx="256032" cy="25603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745736" y="3584448"/>
            <a:ext cx="1709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5C38"/>
                </a:solidFill>
                <a:latin typeface="Calibri"/>
              </a:rPr>
              <a:t>Performance 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45736" y="3840480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Faster queries on
leaner datasets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29984" y="3200400"/>
            <a:ext cx="1892807" cy="1051560"/>
          </a:xfrm>
          <a:prstGeom prst="roundRect">
            <a:avLst/>
          </a:prstGeom>
          <a:solidFill>
            <a:srgbClr val="E8F2EC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e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3273552"/>
            <a:ext cx="256032" cy="25603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821424" y="3584448"/>
            <a:ext cx="1709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5C38"/>
                </a:solidFill>
                <a:latin typeface="Calibri"/>
              </a:rPr>
              <a:t>Governance 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21424" y="3840480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Ongoing hygiene
process in place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Algorithmic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A8D8B9"/>
                </a:solidFill>
                <a:latin typeface="Calibri"/>
              </a:rPr>
              <a:t>Broadcast joins &amp; early filtering for efficient pipelines</a:t>
            </a:r>
          </a:p>
        </p:txBody>
      </p:sp>
      <p:sp>
        <p:nvSpPr>
          <p:cNvPr id="5" name="Oval 4"/>
          <p:cNvSpPr/>
          <p:nvPr/>
        </p:nvSpPr>
        <p:spPr>
          <a:xfrm>
            <a:off x="8412480" y="182880"/>
            <a:ext cx="320040" cy="320040"/>
          </a:xfrm>
          <a:prstGeom prst="ellipse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8412480" cy="146304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C842"/>
                </a:solidFill>
                <a:latin typeface="Calibri"/>
              </a:rPr>
              <a:t>QUERY EXECUTION OPTIMIZATION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234440" cy="457200"/>
          </a:xfrm>
          <a:prstGeom prst="roundRect">
            <a:avLst/>
          </a:prstGeom>
          <a:solidFill>
            <a:srgbClr val="2D4A38"/>
          </a:solidFill>
          <a:ln w="19050">
            <a:solidFill>
              <a:srgbClr val="C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5050"/>
                </a:solidFill>
                <a:latin typeface="Calibri"/>
              </a:rPr>
              <a:t>Full
Dataset</a:t>
            </a:r>
          </a:p>
        </p:txBody>
      </p:sp>
      <p:sp>
        <p:nvSpPr>
          <p:cNvPr id="9" name="Notched Right Arrow 8"/>
          <p:cNvSpPr/>
          <p:nvPr/>
        </p:nvSpPr>
        <p:spPr>
          <a:xfrm>
            <a:off x="1801368" y="1426464"/>
            <a:ext cx="274320" cy="182880"/>
          </a:xfrm>
          <a:prstGeom prst="notchedRightArrow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1280160"/>
            <a:ext cx="1234440" cy="457200"/>
          </a:xfrm>
          <a:prstGeom prst="roundRect">
            <a:avLst/>
          </a:prstGeom>
          <a:solidFill>
            <a:srgbClr val="2D4A38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C842"/>
                </a:solidFill>
                <a:latin typeface="Calibri"/>
              </a:rPr>
              <a:t>Early
Filtering</a:t>
            </a:r>
          </a:p>
        </p:txBody>
      </p:sp>
      <p:sp>
        <p:nvSpPr>
          <p:cNvPr id="11" name="Notched Right Arrow 10"/>
          <p:cNvSpPr/>
          <p:nvPr/>
        </p:nvSpPr>
        <p:spPr>
          <a:xfrm>
            <a:off x="3401568" y="1426464"/>
            <a:ext cx="274320" cy="182880"/>
          </a:xfrm>
          <a:prstGeom prst="notchedRightArrow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1280160"/>
            <a:ext cx="1234440" cy="457200"/>
          </a:xfrm>
          <a:prstGeom prst="roundRect">
            <a:avLst/>
          </a:prstGeom>
          <a:solidFill>
            <a:srgbClr val="2D4A38"/>
          </a:solidFill>
          <a:ln w="1905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9B6F"/>
                </a:solidFill>
                <a:latin typeface="Calibri"/>
              </a:rPr>
              <a:t>Broadcast
Join</a:t>
            </a:r>
          </a:p>
        </p:txBody>
      </p:sp>
      <p:sp>
        <p:nvSpPr>
          <p:cNvPr id="13" name="Notched Right Arrow 12"/>
          <p:cNvSpPr/>
          <p:nvPr/>
        </p:nvSpPr>
        <p:spPr>
          <a:xfrm>
            <a:off x="5001768" y="1426464"/>
            <a:ext cx="274320" cy="182880"/>
          </a:xfrm>
          <a:prstGeom prst="notchedRightArrow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1280160"/>
            <a:ext cx="1234440" cy="457200"/>
          </a:xfrm>
          <a:prstGeom prst="roundRect">
            <a:avLst/>
          </a:prstGeom>
          <a:solidFill>
            <a:srgbClr val="2D4A38"/>
          </a:solidFill>
          <a:ln w="1905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A9B6F"/>
                </a:solidFill>
                <a:latin typeface="Calibri"/>
              </a:rPr>
              <a:t>Reduced
Shuffle</a:t>
            </a:r>
          </a:p>
        </p:txBody>
      </p:sp>
      <p:sp>
        <p:nvSpPr>
          <p:cNvPr id="15" name="Notched Right Arrow 14"/>
          <p:cNvSpPr/>
          <p:nvPr/>
        </p:nvSpPr>
        <p:spPr>
          <a:xfrm>
            <a:off x="6601968" y="1426464"/>
            <a:ext cx="274320" cy="182880"/>
          </a:xfrm>
          <a:prstGeom prst="notchedRightArrow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1280160"/>
            <a:ext cx="1234440" cy="457200"/>
          </a:xfrm>
          <a:prstGeom prst="roundRect">
            <a:avLst/>
          </a:prstGeom>
          <a:solidFill>
            <a:srgbClr val="2D4A38"/>
          </a:solidFill>
          <a:ln w="19050">
            <a:solidFill>
              <a:srgbClr val="A8D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A8D8B9"/>
                </a:solidFill>
                <a:latin typeface="Calibri"/>
              </a:rPr>
              <a:t>Optimized
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10512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C842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965960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scanned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1810512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C842"/>
                </a:solidFill>
                <a:latin typeface="Calibri"/>
              </a:rPr>
              <a:t>−40%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965960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filtered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1810512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C842"/>
                </a:solidFill>
                <a:latin typeface="Calibri"/>
              </a:rPr>
              <a:t>−30%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1965960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shuffle gone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810512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C842"/>
                </a:solidFill>
                <a:latin typeface="Calibri"/>
              </a:rPr>
              <a:t>−20%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1965960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less I/O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810512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C842"/>
                </a:solidFill>
                <a:latin typeface="Calibri"/>
              </a:rPr>
              <a:t>≈10%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965960"/>
            <a:ext cx="1234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of original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2560320"/>
            <a:ext cx="3931920" cy="192024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651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C842"/>
                </a:solidFill>
                <a:latin typeface="Calibri"/>
              </a:rPr>
              <a:t>TECHNIQUE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Broadcast joins and early filtering minimise costly shuffle operations and lower resource consumption for every pipeline run.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3832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C84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38328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Small tables broadcast to all executors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59359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C842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93592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Predicate pushdown filters data at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80390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C842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803904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Partition pruning skips irrelevant blocks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14215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C842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014215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D8B9"/>
                </a:solidFill>
                <a:latin typeface="Calibri"/>
              </a:rPr>
              <a:t>Dramatic reduction in network I/O &amp; disk spill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2560320"/>
            <a:ext cx="4206240" cy="192024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2651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C842"/>
                </a:solidFill>
                <a:latin typeface="Calibri"/>
              </a:rPr>
              <a:t>RESOURCE CONSUMPTION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017520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Network I/O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0" y="3017520"/>
            <a:ext cx="2926080" cy="118872"/>
          </a:xfrm>
          <a:prstGeom prst="roundRect">
            <a:avLst/>
          </a:prstGeom>
          <a:solidFill>
            <a:srgbClr val="1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0" y="3017520"/>
            <a:ext cx="2633472" cy="11887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69280" y="3163824"/>
            <a:ext cx="2926080" cy="118872"/>
          </a:xfrm>
          <a:prstGeom prst="roundRect">
            <a:avLst/>
          </a:prstGeom>
          <a:solidFill>
            <a:srgbClr val="1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0" y="3163824"/>
            <a:ext cx="438912" cy="118872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3364992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Disk Spill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0" y="3364992"/>
            <a:ext cx="2926080" cy="118872"/>
          </a:xfrm>
          <a:prstGeom prst="roundRect">
            <a:avLst/>
          </a:prstGeom>
          <a:solidFill>
            <a:srgbClr val="1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0" y="3364992"/>
            <a:ext cx="2194560" cy="11887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669280" y="3511296"/>
            <a:ext cx="2926080" cy="118872"/>
          </a:xfrm>
          <a:prstGeom prst="roundRect">
            <a:avLst/>
          </a:prstGeom>
          <a:solidFill>
            <a:srgbClr val="1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0" y="3511296"/>
            <a:ext cx="292608" cy="118872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3712464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CPU 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0" y="3712464"/>
            <a:ext cx="2926080" cy="118872"/>
          </a:xfrm>
          <a:prstGeom prst="roundRect">
            <a:avLst/>
          </a:prstGeom>
          <a:solidFill>
            <a:srgbClr val="1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0" y="3712464"/>
            <a:ext cx="1755648" cy="11887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669280" y="3858768"/>
            <a:ext cx="2926080" cy="118872"/>
          </a:xfrm>
          <a:prstGeom prst="roundRect">
            <a:avLst/>
          </a:prstGeom>
          <a:solidFill>
            <a:srgbClr val="1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0" y="3858768"/>
            <a:ext cx="731520" cy="118872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4059936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A9B6F"/>
                </a:solidFill>
                <a:latin typeface="Calibri"/>
              </a:rPr>
              <a:t>Memory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0" y="4059936"/>
            <a:ext cx="2926080" cy="118872"/>
          </a:xfrm>
          <a:prstGeom prst="roundRect">
            <a:avLst/>
          </a:prstGeom>
          <a:solidFill>
            <a:srgbClr val="1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0" y="4059936"/>
            <a:ext cx="2048255" cy="118872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669280" y="4206240"/>
            <a:ext cx="2926080" cy="118872"/>
          </a:xfrm>
          <a:prstGeom prst="roundRect">
            <a:avLst/>
          </a:prstGeom>
          <a:solidFill>
            <a:srgbClr val="1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0" y="4206240"/>
            <a:ext cx="1024127" cy="118872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54880" y="4251960"/>
            <a:ext cx="109728" cy="9144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19472" y="423367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A8D8B9"/>
                </a:solidFill>
                <a:latin typeface="Calibri"/>
              </a:rPr>
              <a:t>Before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0" y="4251960"/>
            <a:ext cx="109728" cy="9144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50992" y="423367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A8D8B9"/>
                </a:solidFill>
                <a:latin typeface="Calibri"/>
              </a:rPr>
              <a:t>After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Zero-Waste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A8D8B9"/>
                </a:solidFill>
                <a:latin typeface="Calibri"/>
              </a:rPr>
              <a:t>On-demand resource provisioning — no idle compute</a:t>
            </a:r>
          </a:p>
        </p:txBody>
      </p:sp>
      <p:sp>
        <p:nvSpPr>
          <p:cNvPr id="5" name="Oval 4"/>
          <p:cNvSpPr/>
          <p:nvPr/>
        </p:nvSpPr>
        <p:spPr>
          <a:xfrm>
            <a:off x="8412480" y="182880"/>
            <a:ext cx="320040" cy="320040"/>
          </a:xfrm>
          <a:prstGeom prst="ellipse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39319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iginal_s3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87552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4A38"/>
                </a:solidFill>
                <a:latin typeface="Calibri"/>
              </a:rPr>
              <a:t>On-demand resource provisioning eliminates idle compute in non-production environments, cutting emissions where they're easiest to avoid.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Dev/Test/Staging clusters spin up only when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Auto-shutdown after configurable idle timeout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659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Scheduled provisioning aligned to team work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1945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Zero cost and zero emissions during off-hours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4231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2316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Plan to expand zero-waste to all environments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KEY BENEFITS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5C38"/>
                </a:solidFill>
                <a:latin typeface="Calibri"/>
              </a:rPr>
              <a:t>Lower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735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No charges for idle clusters during off-hours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93008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5C38"/>
                </a:solidFill>
                <a:latin typeface="Calibri"/>
              </a:rPr>
              <a:t>Reduced Emissions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Eliminating unnecessary compute reduces carbon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77056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5C38"/>
                </a:solidFill>
                <a:latin typeface="Calibri"/>
              </a:rPr>
              <a:t>Scalable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41648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Approach can extend to all non-prod environments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914400"/>
            <a:ext cx="42062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9875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24-HOUR COMPUTE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128016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05050"/>
                </a:solidFill>
                <a:latin typeface="Calibri"/>
              </a:rPr>
              <a:t>TRADITIONAL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56048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11496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66944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22392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77840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33288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88736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44184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10528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65976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21424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76872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0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87768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43216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98664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54112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09560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65008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0456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75904" y="1490472"/>
            <a:ext cx="128016" cy="41148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1938528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C05050"/>
                </a:solidFill>
                <a:latin typeface="Calibri"/>
              </a:rPr>
              <a:t>24/7 always-on  •  Paying for idle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19456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ON-DEMAND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56048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11496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66944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22392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77840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33288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88736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44184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99632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55080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510528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65976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21424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76872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32320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287768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443216" y="2404872"/>
            <a:ext cx="128016" cy="41148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598664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54112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09560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65008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20456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75904" y="2404872"/>
            <a:ext cx="128016" cy="411480"/>
          </a:xfrm>
          <a:prstGeom prst="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00600" y="285292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A9B6F"/>
                </a:solidFill>
                <a:latin typeface="Calibri"/>
              </a:rPr>
              <a:t>0h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285292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A9B6F"/>
                </a:solidFill>
                <a:latin typeface="Calibri"/>
              </a:rPr>
              <a:t>6h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65976" y="285292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A9B6F"/>
                </a:solidFill>
                <a:latin typeface="Calibri"/>
              </a:rPr>
              <a:t>12h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98664" y="285292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A9B6F"/>
                </a:solidFill>
                <a:latin typeface="Calibri"/>
              </a:rPr>
              <a:t>18h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75904" y="285292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A9B6F"/>
                </a:solidFill>
                <a:latin typeface="Calibri"/>
              </a:rPr>
              <a:t>23h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2999232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A5C38"/>
                </a:solidFill>
                <a:latin typeface="Calibri"/>
              </a:rPr>
              <a:t>Only 8am–6pm  •  Significant compute savings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937760" y="3291840"/>
            <a:ext cx="3657600" cy="914400"/>
          </a:xfrm>
          <a:prstGeom prst="roundRect">
            <a:avLst/>
          </a:prstGeom>
          <a:solidFill>
            <a:srgbClr val="E8F2EC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gen_r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429000"/>
            <a:ext cx="365760" cy="36576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532120" y="3401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5C38"/>
                </a:solidFill>
                <a:latin typeface="Calibri"/>
              </a:rPr>
              <a:t>Significant reduction in idle compute costs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3212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4A38"/>
                </a:solidFill>
                <a:latin typeface="Calibri"/>
              </a:rPr>
              <a:t>Non-production environments account for a large share of total
compute spend — on-demand provisioning targets this directly.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Report Rationalization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A8D8B9"/>
                </a:solidFill>
                <a:latin typeface="Calibri"/>
              </a:rPr>
              <a:t>Retire, optimize, and unify for sustainable reporting</a:t>
            </a:r>
          </a:p>
        </p:txBody>
      </p:sp>
      <p:sp>
        <p:nvSpPr>
          <p:cNvPr id="5" name="Oval 4"/>
          <p:cNvSpPr/>
          <p:nvPr/>
        </p:nvSpPr>
        <p:spPr>
          <a:xfrm>
            <a:off x="8412480" y="182880"/>
            <a:ext cx="320040" cy="320040"/>
          </a:xfrm>
          <a:prstGeom prst="ellipse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8412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REPORT LANDSCAPE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05050"/>
                </a:solidFill>
                <a:latin typeface="Calibri"/>
              </a:rPr>
              <a:t>BEFORE: 20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3560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43560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43584" y="143560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143560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8528" y="143560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1848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161848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43584" y="161848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1056" y="161848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8528" y="1618488"/>
            <a:ext cx="274320" cy="137160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180136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" y="180136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43584" y="180136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91056" y="180136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38528" y="180136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198424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" y="198424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43584" y="198424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91056" y="198424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38528" y="1984248"/>
            <a:ext cx="274320" cy="13716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1554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5C842"/>
                </a:solidFill>
                <a:latin typeface="Calibri"/>
              </a:rPr>
              <a:t>→</a:t>
            </a:r>
          </a:p>
        </p:txBody>
      </p:sp>
      <p:sp>
        <p:nvSpPr>
          <p:cNvPr id="30" name="Pentagon 29"/>
          <p:cNvSpPr/>
          <p:nvPr/>
        </p:nvSpPr>
        <p:spPr>
          <a:xfrm>
            <a:off x="3291840" y="1371600"/>
            <a:ext cx="731520" cy="640080"/>
          </a:xfrm>
          <a:prstGeom prst="homePlate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Audit &amp;
Retire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1554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5C842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12161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AFTER: 10 Reports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143560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5232" y="143560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32704" y="143560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0176" y="143560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27648" y="143560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60" y="161848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85232" y="161848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32704" y="161848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0176" y="161848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27648" y="1618488"/>
            <a:ext cx="274320" cy="13716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132320" y="1325880"/>
            <a:ext cx="1371600" cy="594360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2B1A"/>
                </a:solidFill>
                <a:latin typeface="Calibri"/>
              </a:rPr>
              <a:t>50%
Reduced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514600"/>
            <a:ext cx="3931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original_s3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87752"/>
            <a:ext cx="228600" cy="228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77240" y="2587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ACTIONS TAKEN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288036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✓  Retired 3 unused reports — zero business 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315468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✓  Optimised Power BI refresh schedules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42900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✓  Enabled faster data availability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70332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✓  Real-time decision making now possible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023360"/>
            <a:ext cx="3566160" cy="292608"/>
          </a:xfrm>
          <a:prstGeom prst="roundRect">
            <a:avLst/>
          </a:prstGeom>
          <a:solidFill>
            <a:srgbClr val="E8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5C38"/>
                </a:solidFill>
                <a:latin typeface="Calibri"/>
              </a:rPr>
              <a:t>NEXT: Reduce 20 → 10 reports &amp; unify backend data model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0" y="2514600"/>
            <a:ext cx="4206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9160" y="2587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REFRESH SCHEDULE OPTIMIZATION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3200400"/>
            <a:ext cx="3474720" cy="18288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66360" y="3108960"/>
            <a:ext cx="182880" cy="182880"/>
          </a:xfrm>
          <a:prstGeom prst="ellipse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0" y="338328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05050"/>
                </a:solidFill>
                <a:latin typeface="Calibri"/>
              </a:rPr>
              <a:t>Before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35661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2D4A38"/>
                </a:solidFill>
                <a:latin typeface="Calibri"/>
              </a:rPr>
              <a:t>6x/day
All reports</a:t>
            </a:r>
          </a:p>
        </p:txBody>
      </p:sp>
      <p:sp>
        <p:nvSpPr>
          <p:cNvPr id="58" name="Oval 57"/>
          <p:cNvSpPr/>
          <p:nvPr/>
        </p:nvSpPr>
        <p:spPr>
          <a:xfrm>
            <a:off x="6355080" y="3108960"/>
            <a:ext cx="182880" cy="182880"/>
          </a:xfrm>
          <a:prstGeom prst="ellipse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38328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A9B6F"/>
                </a:solidFill>
                <a:latin typeface="Calibri"/>
              </a:rPr>
              <a:t>Optimized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35661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2D4A38"/>
                </a:solidFill>
                <a:latin typeface="Calibri"/>
              </a:rPr>
              <a:t>Smart
Schedule</a:t>
            </a:r>
          </a:p>
        </p:txBody>
      </p:sp>
      <p:sp>
        <p:nvSpPr>
          <p:cNvPr id="61" name="Oval 60"/>
          <p:cNvSpPr/>
          <p:nvPr/>
        </p:nvSpPr>
        <p:spPr>
          <a:xfrm>
            <a:off x="7543800" y="3108960"/>
            <a:ext cx="182880" cy="182880"/>
          </a:xfrm>
          <a:prstGeom prst="ellipse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0" y="338328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A5C38"/>
                </a:solidFill>
                <a:latin typeface="Calibri"/>
              </a:rPr>
              <a:t>Target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06640" y="35661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2D4A38"/>
                </a:solidFill>
                <a:latin typeface="Calibri"/>
              </a:rPr>
              <a:t>On-demand
+ Cached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Environmental &amp; 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A8D8B9"/>
                </a:solidFill>
                <a:latin typeface="Calibri"/>
              </a:rPr>
              <a:t>Unified Carbon &amp; Cost Savings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965960" cy="118872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1874520" cy="36576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iginal_s4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98755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9875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Carbon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1704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C842"/>
                </a:solidFill>
                <a:latin typeface="Calibri"/>
              </a:rPr>
              <a:t>2.55 MTCO₂e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08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D8B9"/>
                </a:solidFill>
                <a:latin typeface="Calibri"/>
              </a:rPr>
              <a:t>Apr: 0.18 | May: 2.37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916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Annualized: ~15.3 MT/yr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914400"/>
            <a:ext cx="1965960" cy="118872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914400"/>
            <a:ext cx="1874520" cy="36576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riginal_s5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8755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24328" y="9875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C842"/>
                </a:solidFill>
                <a:latin typeface="Calibri"/>
              </a:rPr>
              <a:t>Cost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11704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$64,667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1508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D8B9"/>
                </a:solidFill>
                <a:latin typeface="Calibri"/>
              </a:rPr>
              <a:t>Apr: $28.2K | May: $36.5K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16916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C842"/>
                </a:solidFill>
                <a:latin typeface="Calibri"/>
              </a:rPr>
              <a:t>Annualized: ~$388K/yr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914400"/>
            <a:ext cx="1965960" cy="118872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914400"/>
            <a:ext cx="1874520" cy="36576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riginal_s4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87552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73168" y="9875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EV Charging Equiv.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1704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C842"/>
                </a:solidFill>
                <a:latin typeface="Calibri"/>
              </a:rPr>
              <a:t>~820K–1M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1508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D8B9"/>
                </a:solidFill>
                <a:latin typeface="Calibri"/>
              </a:rPr>
              <a:t>EV miles equivalent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16916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Calibri"/>
              </a:rPr>
              <a:t>≈ 22× around Earth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914400"/>
            <a:ext cx="1965960" cy="118872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914400"/>
            <a:ext cx="1874520" cy="36576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en_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987552"/>
            <a:ext cx="292608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22008" y="9875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C842"/>
                </a:solidFill>
                <a:latin typeface="Calibri"/>
              </a:rPr>
              <a:t>Compute Equiv.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11704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5+ Clusters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1508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D8B9"/>
                </a:solidFill>
                <a:latin typeface="Calibri"/>
              </a:rPr>
              <a:t>Medium clusters / yr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16916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5C842"/>
                </a:solidFill>
                <a:latin typeface="Calibri"/>
              </a:rPr>
              <a:t>Continuous 24/7 run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2240280"/>
            <a:ext cx="4114800" cy="246888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31343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C842"/>
                </a:solidFill>
                <a:latin typeface="Calibri"/>
              </a:rPr>
              <a:t>PROJECTED CARBON TRAJECTORY (MTCO₂e)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57200" y="2560320"/>
          <a:ext cx="3840480" cy="20116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4663440" y="2240280"/>
            <a:ext cx="4114800" cy="2468880"/>
          </a:xfrm>
          <a:prstGeom prst="roundRect">
            <a:avLst/>
          </a:prstGeom>
          <a:solidFill>
            <a:srgbClr val="2D4A38"/>
          </a:solidFill>
          <a:ln w="1270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231343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C842"/>
                </a:solidFill>
                <a:latin typeface="Calibri"/>
              </a:rPr>
              <a:t>PROJECTED COST TRAJECTORY (USD)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4754880" y="2560320"/>
          <a:ext cx="3840480" cy="201168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Roadmap &amp; Platform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A8D8B9"/>
                </a:solidFill>
                <a:latin typeface="Calibri"/>
              </a:rPr>
              <a:t>Year-end transformational scaling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C38"/>
                </a:solidFill>
                <a:latin typeface="Calibri"/>
              </a:rPr>
              <a:t>DEVELOPMENT TIMELINE &amp; DOUBLE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680960" cy="54864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16736" y="1965960"/>
            <a:ext cx="18288" cy="22860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7008" y="1737360"/>
            <a:ext cx="237744" cy="237744"/>
          </a:xfrm>
          <a:prstGeom prst="ellipse">
            <a:avLst/>
          </a:prstGeom>
          <a:solidFill>
            <a:srgbClr val="4A9B6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2194560"/>
            <a:ext cx="19202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riginal_s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2331720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2743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9B6F"/>
                </a:solidFill>
                <a:latin typeface="Calibri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5C38"/>
                </a:solidFill>
                <a:latin typeface="Calibri"/>
              </a:rPr>
              <a:t>Active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1188720" cy="9144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✓ Async processing
✓ Obsolete data purged
✓ 3 reports retired
✓ Cost opt. enabled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1296" y="1965960"/>
            <a:ext cx="18288" cy="2286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01568" y="1737360"/>
            <a:ext cx="237744" cy="237744"/>
          </a:xfrm>
          <a:prstGeom prst="ellipse">
            <a:avLst/>
          </a:prstGeom>
          <a:solidFill>
            <a:srgbClr val="1A5C3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0" y="2194560"/>
            <a:ext cx="19202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riginal_s3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420" y="2331720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60320" y="2743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5C38"/>
                </a:solidFill>
                <a:latin typeface="Calibri"/>
              </a:rP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926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5C38"/>
                </a:solidFill>
                <a:latin typeface="Calibri"/>
              </a:rPr>
              <a:t>Report Overhaul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246120"/>
            <a:ext cx="1188720" cy="9144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→ Reduce reports: 20 → 10
→ Unify data model
→ Power BI optimization
→ Data Dictionary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05856" y="1965960"/>
            <a:ext cx="18288" cy="228600"/>
          </a:xfrm>
          <a:prstGeom prst="rect">
            <a:avLst/>
          </a:prstGeom>
          <a:solidFill>
            <a:srgbClr val="3B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96128" y="1737360"/>
            <a:ext cx="237744" cy="237744"/>
          </a:xfrm>
          <a:prstGeom prst="ellipse">
            <a:avLst/>
          </a:prstGeom>
          <a:solidFill>
            <a:srgbClr val="3B7B5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2194560"/>
            <a:ext cx="19202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7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original_s3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980" y="2331720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54880" y="2743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7B55"/>
                </a:solidFill>
                <a:latin typeface="Calibri"/>
              </a:rPr>
              <a:t>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926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5C38"/>
                </a:solidFill>
                <a:latin typeface="Calibri"/>
              </a:rPr>
              <a:t>Zero-Waste Cloud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3246120"/>
            <a:ext cx="1188720" cy="9144"/>
          </a:xfrm>
          <a:prstGeom prst="rect">
            <a:avLst/>
          </a:prstGeom>
          <a:solidFill>
            <a:srgbClr val="3B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4A38"/>
                </a:solidFill>
                <a:latin typeface="Calibri"/>
              </a:rPr>
              <a:t>★ Expand zero-waste
★ Automated lifecycle
★ Predictive scaling
★ Green ecosystem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0416" y="1965960"/>
            <a:ext cx="18288" cy="2286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90688" y="1737360"/>
            <a:ext cx="237744" cy="237744"/>
          </a:xfrm>
          <a:prstGeom prst="ellipse">
            <a:avLst/>
          </a:prstGeom>
          <a:solidFill>
            <a:srgbClr val="F5C84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49440" y="2194560"/>
            <a:ext cx="19202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original_s7_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540" y="2331720"/>
            <a:ext cx="320040" cy="3200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9440" y="2743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C842"/>
                </a:solidFill>
                <a:latin typeface="Calibri"/>
              </a:rPr>
              <a:t>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926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5C38"/>
                </a:solidFill>
                <a:latin typeface="Calibri"/>
              </a:rPr>
              <a:t>Double Impact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3246120"/>
            <a:ext cx="1188720" cy="9144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5C38"/>
                </a:solidFill>
                <a:latin typeface="Calibri"/>
              </a:rPr>
              <a:t>▲ 30.6 MTCO₂e/yr
▲ $656K/yr Savings
▲ 1.8M km EV Equiv.
▲ 10+ Clusters Avoided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9B6F"/>
                </a:solidFill>
                <a:latin typeface="Calibri"/>
              </a:rPr>
              <a:t>FUTURE PLATFORM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822960"/>
            <a:ext cx="6583680" cy="3108960"/>
          </a:xfrm>
          <a:prstGeom prst="roundRect">
            <a:avLst/>
          </a:prstGeom>
          <a:solidFill>
            <a:srgbClr val="2D4A38"/>
          </a:solidFill>
          <a:ln w="2540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F5C842"/>
                </a:solidFill>
                <a:latin typeface="Calibri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50876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Calibri"/>
              </a:rPr>
              <a:t>True optimization does not choose between high performance and low emissions — it engineers both. By translating CPU cycles into planetary savings, we prove that the data platform of the future is not just scalable; it is sustainable.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30632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F5C842"/>
                </a:solidFill>
                <a:latin typeface="Calibri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337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D8B9"/>
                </a:solidFill>
                <a:latin typeface="Calibri"/>
              </a:rPr>
              <a:t>— eMobility Mavericks  •  Earth Day 2026</a:t>
            </a:r>
          </a:p>
        </p:txBody>
      </p:sp>
      <p:pic>
        <p:nvPicPr>
          <p:cNvPr id="9" name="Picture 8" descr="original_s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160520"/>
            <a:ext cx="457200" cy="457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9B6F"/>
                </a:solidFill>
                <a:latin typeface="Calibri"/>
              </a:rPr>
              <a:t>eMobility Mavericks  |  May 2026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